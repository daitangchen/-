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0D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723290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65352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7415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9477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3602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5664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7727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9789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1852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914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5976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420624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12280" y="841248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12280" y="1261872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12280" y="1682496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12280" y="2103120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12280" y="2523744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12280" y="2944368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3364992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12280" y="3785616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12280" y="4206240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12280" y="4626864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12280" y="5047488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12280" y="5468112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12280" y="5888736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12280" y="6309360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12280" y="6729984"/>
            <a:ext cx="537941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8686800" y="2617011"/>
            <a:ext cx="2381097" cy="1360628"/>
          </a:xfrm>
          <a:custGeom>
            <a:avLst/>
            <a:gdLst/>
            <a:ahLst/>
            <a:cxnLst/>
            <a:rect l="l" t="t" r="r" b="b"/>
            <a:pathLst>
              <a:path w="2381097" h="1360628">
                <a:moveTo>
                  <a:pt x="0" y="1360628"/>
                </a:moveTo>
                <a:lnTo>
                  <a:pt x="1700784" y="1360628"/>
                </a:lnTo>
                <a:lnTo>
                  <a:pt x="2381097" y="0"/>
                </a:lnTo>
                <a:lnTo>
                  <a:pt x="680313" y="0"/>
                </a:lnTo>
                <a:close/>
              </a:path>
            </a:pathLst>
          </a:custGeom>
          <a:solidFill>
            <a:srgbClr val="1B4572"/>
          </a:solidFill>
          <a:ln w="20320">
            <a:solidFill>
              <a:srgbClr val="5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686800" y="3977639"/>
            <a:ext cx="1700784" cy="0"/>
          </a:xfrm>
          <a:prstGeom prst="line">
            <a:avLst/>
          </a:prstGeom>
          <a:ln w="33020">
            <a:solidFill>
              <a:srgbClr val="F2A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686800" y="2617011"/>
            <a:ext cx="680313" cy="1360628"/>
          </a:xfrm>
          <a:prstGeom prst="line">
            <a:avLst/>
          </a:prstGeom>
          <a:ln w="33020">
            <a:solidFill>
              <a:srgbClr val="6ED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67113" y="4032503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2A64B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3492" y="309890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ED3C8"/>
                </a:solidFill>
                <a:latin typeface="Cambria"/>
                <a:ea typeface="Cambria"/>
                <a:cs typeface="Cambria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709160"/>
            <a:ext cx="3840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CC9EC"/>
                </a:solidFill>
                <a:latin typeface="Cambria"/>
                <a:ea typeface="Cambria"/>
                <a:cs typeface="Cambria"/>
              </a:rPr>
              <a:t>det(a, b) = 有向面积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10515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大学数学 · 线性代数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1481328"/>
            <a:ext cx="6583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方阵的行列式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F2A64B"/>
                </a:solidFill>
                <a:latin typeface="微软雅黑"/>
                <a:ea typeface="微软雅黑"/>
                <a:cs typeface="微软雅黑"/>
              </a:rPr>
              <a:t>从排列的奇偶性到 Cramer 法则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3429000"/>
            <a:ext cx="2103120" cy="38100"/>
          </a:xfrm>
          <a:prstGeom prst="rect">
            <a:avLst/>
          </a:prstGeom>
          <a:solidFill>
            <a:srgbClr val="F2A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2648" y="3703320"/>
            <a:ext cx="6035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讲解对象</a:t>
            </a:r>
            <a:r>
              <a:rPr sz="1500" b="0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　计算机专业一年级本科生（已修完矩阵的运算与初等变换）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内容范围</a:t>
            </a:r>
            <a:r>
              <a:rPr sz="1500" b="0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　教材第二章全部 + 第四章 §1.1 的 Cramer 法则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学习方式</a:t>
            </a:r>
            <a:r>
              <a:rPr sz="1500" b="0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　定义 → 性质 → 计算 → 几何直观 → 应用，每步配图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先修要求</a:t>
            </a:r>
            <a:r>
              <a:rPr sz="1500" b="0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　矩阵运算、初等变换、n 维向量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217920"/>
            <a:ext cx="6812280" cy="304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2648" y="632764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C93AB"/>
                </a:solidFill>
                <a:latin typeface="微软雅黑"/>
                <a:ea typeface="微软雅黑"/>
                <a:cs typeface="微软雅黑"/>
              </a:rPr>
              <a:t>配套教材：《大学数学——线性代数（第四版）》第二、四章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ROADMAP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本次课的知识地图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五个台阶：从「行列式是什么」走到「用它解方程组」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74519"/>
            <a:ext cx="1810512" cy="1481328"/>
          </a:xfrm>
          <a:prstGeom prst="roundRect">
            <a:avLst>
              <a:gd name="adj" fmla="val 4500"/>
            </a:avLst>
          </a:prstGeom>
          <a:solidFill>
            <a:srgbClr val="F2F3F5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874519"/>
            <a:ext cx="57150" cy="1481328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06424" y="1655063"/>
            <a:ext cx="548640" cy="438912"/>
          </a:xfrm>
          <a:prstGeom prst="ellipse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03703"/>
            <a:ext cx="1627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预备知识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矩阵、向量、
初等变换回顾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615183"/>
            <a:ext cx="14630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8880" y="1874519"/>
            <a:ext cx="1810512" cy="1481328"/>
          </a:xfrm>
          <a:prstGeom prst="roundRect">
            <a:avLst>
              <a:gd name="adj" fmla="val 4500"/>
            </a:avLst>
          </a:prstGeom>
          <a:solidFill>
            <a:srgbClr val="DEF2F3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468880" y="1874519"/>
            <a:ext cx="57150" cy="148132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099816" y="1655063"/>
            <a:ext cx="548640" cy="438912"/>
          </a:xfrm>
          <a:prstGeom prst="ellipse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203703"/>
            <a:ext cx="1627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排列与逆序数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为 n 阶行列式的
定义做准备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0" y="2615183"/>
            <a:ext cx="14630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62272" y="1874519"/>
            <a:ext cx="1810512" cy="1481328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462272" y="1874519"/>
            <a:ext cx="57150" cy="14813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093208" y="1655063"/>
            <a:ext cx="548640" cy="43891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203703"/>
            <a:ext cx="1627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n 阶行列式的定义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Leibniz 展开式
几何意义 = 面积/体积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91072" y="2615183"/>
            <a:ext cx="14630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55664" y="1874519"/>
            <a:ext cx="1810512" cy="1481328"/>
          </a:xfrm>
          <a:prstGeom prst="roundRect">
            <a:avLst>
              <a:gd name="adj" fmla="val 4500"/>
            </a:avLst>
          </a:prstGeom>
          <a:solidFill>
            <a:srgbClr val="E4F1E4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55664" y="1874519"/>
            <a:ext cx="57150" cy="14813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086600" y="1655063"/>
            <a:ext cx="548640" cy="43891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203703"/>
            <a:ext cx="1627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行列式的性质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初等变换如何改变
行列式的值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84464" y="2615183"/>
            <a:ext cx="14630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49056" y="1874519"/>
            <a:ext cx="1810512" cy="1481328"/>
          </a:xfrm>
          <a:prstGeom prst="roundRect">
            <a:avLst>
              <a:gd name="adj" fmla="val 4500"/>
            </a:avLst>
          </a:prstGeom>
          <a:solidFill>
            <a:srgbClr val="FDEED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449056" y="1874519"/>
            <a:ext cx="57150" cy="148132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079992" y="1655063"/>
            <a:ext cx="548640" cy="438912"/>
          </a:xfrm>
          <a:prstGeom prst="ellipse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2203703"/>
            <a:ext cx="1627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展开定理与计算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余子式、代数余子式
Laplace 定理、加边法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77856" y="2615183"/>
            <a:ext cx="14630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42448" y="1874519"/>
            <a:ext cx="1810512" cy="1481328"/>
          </a:xfrm>
          <a:prstGeom prst="roundRect">
            <a:avLst>
              <a:gd name="adj" fmla="val 4500"/>
            </a:avLst>
          </a:prstGeom>
          <a:solidFill>
            <a:srgbClr val="FAE4E1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0442448" y="1874519"/>
            <a:ext cx="57150" cy="1481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1073384" y="1655063"/>
            <a:ext cx="548640" cy="43891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3888" y="2203703"/>
            <a:ext cx="1627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Cramer 法则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伴随矩阵 → 逆矩阵
→ 唯一解公式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3794760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75488" y="3794760"/>
            <a:ext cx="57150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03504" y="393192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794760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两条主线</a:t>
            </a: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　① 理论线：排列 → 定义 → 性质 → 展开定理 → Cramer 法则　② 计算线：化三角形 → 降阶 → 递推 / 加边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4617720"/>
            <a:ext cx="553212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4617720"/>
            <a:ext cx="57150" cy="148132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474573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为什么计算机专业要学行列式？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020056"/>
            <a:ext cx="522122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判定矩阵是否可逆 ⇒ 线性方程组是否有唯一解（</a:t>
            </a:r>
            <a:r>
              <a:rPr sz="13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|A| ≠ 0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几何意义是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体积缩放因子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：图形学中的法向变换、坐标变换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Jacobi 行列式是概率密度换元、神经网络正则化的基础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4617720"/>
            <a:ext cx="553212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199632" y="4617720"/>
            <a:ext cx="57150" cy="148132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82512" y="474573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本讲的三条学习建议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020056"/>
            <a:ext cx="522122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不要背 6 项展开公式，理解「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逆序数定符号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」这一条规则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手算行列式永远优先化为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三角形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，不要硬展开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记住 </a:t>
            </a:r>
            <a:r>
              <a:rPr sz="13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n!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这个数字：它告诉你为什么必须发明消元法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MOTIVATION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从一个初中问题说起：行列式是为了「解方程」而生的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 个未知量、n 个方程的线性方程组 —— 什么时候有唯一解？解怎么表示？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9144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03504" y="188366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48737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求交点：直线 a₁x + b₁y = c₁ 与 a₂x + b₂y = c₂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57984"/>
            <a:ext cx="5303520" cy="8229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a₁x + b₁y = c₁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a₂x + b₂y = c₂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01752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中学的消元法：①×b₂ − ②×b₁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346704"/>
            <a:ext cx="530352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(a₁b₂ − a₂b₁) x = c₁b₂ − c₂b₁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(a₁b₂ − a₂b₁) y = a₁c₂ − a₂c₁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617720"/>
            <a:ext cx="5532120" cy="1188720"/>
          </a:xfrm>
          <a:prstGeom prst="roundRect">
            <a:avLst>
              <a:gd name="adj" fmla="val 6000"/>
            </a:avLst>
          </a:prstGeom>
          <a:solidFill>
            <a:srgbClr val="FDEEDE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4617720"/>
            <a:ext cx="57150" cy="11887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03504" y="506577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48737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同一个式子 </a:t>
            </a:r>
            <a:r>
              <a:rPr sz="14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a₁b₂ − a₂b₁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反复出现：
它不为 0 时解唯一；等于 0 时两直线平行或重合。
</a:t>
            </a:r>
            <a:r>
              <a:rPr sz="14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它就是 2 阶行列式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，是「方程组的解存在唯一性」的开关。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8896" y="209397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27264" y="209397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85632" y="209397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02368" y="209397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0736" y="209397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19104" y="209397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68896" y="2093976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68896" y="2752344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68896" y="3410712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68896" y="4727448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68896" y="5385816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68896" y="6044184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77456" y="4069080"/>
            <a:ext cx="424281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44000" y="1892808"/>
            <a:ext cx="0" cy="424281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164824" y="4105656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1764792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168896" y="2390241"/>
            <a:ext cx="3686860" cy="2765146"/>
          </a:xfrm>
          <a:prstGeom prst="line">
            <a:avLst/>
          </a:prstGeom>
          <a:ln w="2794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168896" y="1830628"/>
            <a:ext cx="3950208" cy="2370125"/>
          </a:xfrm>
          <a:prstGeom prst="line">
            <a:avLst/>
          </a:prstGeom>
          <a:ln w="27940">
            <a:solidFill>
              <a:srgbClr val="D96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392156" y="3342132"/>
            <a:ext cx="137160" cy="1371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0536" y="322783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唯一交点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627632"/>
            <a:ext cx="4023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几何：两直线的交点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07492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系数行列式 ≠ 0 ⇒ 两直线不平行 ⇒ 恰有一个交点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PREREQUISITE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预备 1：矩阵的三种「读法」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同一个 m×n 数表，可以从行、列、变换三个角度去看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783080"/>
          <a:ext cx="2039112" cy="1682496"/>
        </p:xfrm>
        <a:graphic>
          <a:graphicData uri="http://schemas.openxmlformats.org/drawingml/2006/table">
            <a:tbl>
              <a:tblPr/>
              <a:tblGrid>
                <a:gridCol w="542620"/>
                <a:gridCol w="542620"/>
                <a:gridCol w="354131"/>
                <a:gridCol w="599741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a_m₁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a_m₂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a_mn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9808" y="1783080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3445256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9648" y="1783080"/>
            <a:ext cx="20320" cy="1682496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003804" y="1783080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003804" y="3445256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071368" y="1783080"/>
            <a:ext cx="20320" cy="1682496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" y="3749039"/>
            <a:ext cx="292608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 = (aᵢⱼ)ₘₓₙ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60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i = 行标，j = 列标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783080"/>
            <a:ext cx="7754112" cy="1298448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977639" y="1783080"/>
            <a:ext cx="57150" cy="1298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60519" y="1911096"/>
            <a:ext cx="7498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① 行向量组视角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19" y="2185416"/>
            <a:ext cx="744321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 由 m 个 n 维行向量组成：
A = (β₁ᵀ, β₂ᵀ, …, β_mᵀ)ᵀ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每一行是一个方程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209544"/>
            <a:ext cx="7754112" cy="1298448"/>
          </a:xfrm>
          <a:prstGeom prst="roundRect">
            <a:avLst>
              <a:gd name="adj" fmla="val 4500"/>
            </a:avLst>
          </a:prstGeom>
          <a:solidFill>
            <a:srgbClr val="DEF2F3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977639" y="3209544"/>
            <a:ext cx="57150" cy="129844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160519" y="3337560"/>
            <a:ext cx="7498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② 列向量组视角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19" y="3611880"/>
            <a:ext cx="744321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 由 n 个 m 维列向量组成：
A = (α₁, α₂, …, αₙ)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每一列是一个变量前的系数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4636008"/>
            <a:ext cx="7754112" cy="1298448"/>
          </a:xfrm>
          <a:prstGeom prst="roundRect">
            <a:avLst>
              <a:gd name="adj" fmla="val 4500"/>
            </a:avLst>
          </a:prstGeom>
          <a:solidFill>
            <a:srgbClr val="EEE7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977639" y="4636008"/>
            <a:ext cx="57150" cy="1298448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160519" y="4764024"/>
            <a:ext cx="7498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③ 线性变换视角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19" y="5038344"/>
            <a:ext cx="744321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 把 n 维向量 x 变成 m 维向量 Ax
（把单位方格映成平行四边形）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编程中就是一次矩阵乘法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892040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4892040"/>
            <a:ext cx="57150" cy="1417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03504" y="545439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92040"/>
            <a:ext cx="226771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本讲只研究方阵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
行列式是方阵才有的量：
行数 = 列数 = 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PREREQUISITE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预备 2：初等变换、方程组与向量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这些工具会在行列式这一讲反复出现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63040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三种初等行变换（本讲的核心工具）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74519"/>
            <a:ext cx="5532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75488" y="1874519"/>
            <a:ext cx="57150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换法变换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874519"/>
            <a:ext cx="137160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rᵢ ↔ rⱼ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874519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交换两行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624327"/>
            <a:ext cx="5532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75488" y="2624327"/>
            <a:ext cx="57150" cy="64008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2624327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倍法变换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2624327"/>
            <a:ext cx="137160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k·rᵢ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624327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某行乘非零数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3374135"/>
            <a:ext cx="5532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75488" y="3374135"/>
            <a:ext cx="57150" cy="64008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374135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消法变换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374135"/>
            <a:ext cx="1371600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rᵢ + k·rⱼ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374135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某行加上另一行的 k 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224528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三种初等矩阵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590288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75488" y="4590288"/>
            <a:ext cx="57150" cy="78638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03504" y="483717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90288"/>
            <a:ext cx="487375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P(i,j)：交换第 i、j 行；　P(i(k))：第 i 行乘 k；
P(i,j(k))：第 i 行加上第 j 行的 k 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463040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线性方程组的三种等价写法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48256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a₁₁x₁ + … + a₁ₙxₙ = b₁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a₂₁x₁ + … + a₂ₙxₙ = b₂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a_m₁x₁ + … + a_mn xₙ = b_m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1975104"/>
            <a:ext cx="2834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 x =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487168"/>
            <a:ext cx="2834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x₁α₁ + … + xₙαₙ =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94436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向量形式：b 能否由系数列向量线性表示？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429000"/>
            <a:ext cx="5376672" cy="1947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355080" y="3429000"/>
            <a:ext cx="57150" cy="19476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37960" y="35570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这些概念在本讲中的角色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31336"/>
            <a:ext cx="506577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初等变换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→ 计算行列式的主力工具（化三角形）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初等矩阵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→ 行列式的乘法性质 </a:t>
            </a:r>
            <a:r>
              <a:rPr sz="13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|AB| = |A||B|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的证明工具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列向量形式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→ Cramer 法则的几何解释（面积 / 体积之比）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向量线性相关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→ 行列式为 0 的本质原因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WARM-UP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先看两个具体例子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二阶、三阶行列式：给出「数」的定义，也给出「形」的直觉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481328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481328"/>
            <a:ext cx="57150" cy="2331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2 阶行列式 = 平行四边形的有向面积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4672" y="2029968"/>
          <a:ext cx="1810512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658368" y="2029968"/>
            <a:ext cx="0" cy="91440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61488" y="2029968"/>
            <a:ext cx="0" cy="91440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44368" y="2029968"/>
            <a:ext cx="2834640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= ad − 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3580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两行（a, b）、（c, d）看作平面上的两个向量，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它们张成的平行四边形面积 = |ad − bc|，符号表示方向。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8136" y="3941064"/>
            <a:ext cx="0" cy="2267712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5064" y="3941064"/>
            <a:ext cx="0" cy="2267712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21992" y="3941064"/>
            <a:ext cx="0" cy="2267712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55848" y="3941064"/>
            <a:ext cx="0" cy="2267712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22776" y="3941064"/>
            <a:ext cx="0" cy="2267712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9704" y="3941064"/>
            <a:ext cx="0" cy="2267712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8136" y="3941064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88136" y="4507992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8136" y="5641848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8136" y="6208776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6696" y="5074920"/>
            <a:ext cx="369417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88920" y="3739896"/>
            <a:ext cx="0" cy="256032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35424" y="5111496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61188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29" name="Freeform 28"/>
          <p:cNvSpPr/>
          <p:nvPr/>
        </p:nvSpPr>
        <p:spPr>
          <a:xfrm>
            <a:off x="2788920" y="4507992"/>
            <a:ext cx="1700784" cy="566928"/>
          </a:xfrm>
          <a:custGeom>
            <a:avLst/>
            <a:gdLst/>
            <a:ahLst/>
            <a:cxnLst/>
            <a:rect l="l" t="t" r="r" b="b"/>
            <a:pathLst>
              <a:path w="1700784" h="566928">
                <a:moveTo>
                  <a:pt x="0" y="566928"/>
                </a:moveTo>
                <a:lnTo>
                  <a:pt x="1133856" y="566928"/>
                </a:lnTo>
                <a:lnTo>
                  <a:pt x="1700784" y="0"/>
                </a:lnTo>
                <a:lnTo>
                  <a:pt x="566928" y="0"/>
                </a:lnTo>
                <a:close/>
              </a:path>
            </a:pathLst>
          </a:custGeom>
          <a:solidFill>
            <a:srgbClr val="DCEAF7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788920" y="5074920"/>
            <a:ext cx="1133856" cy="0"/>
          </a:xfrm>
          <a:prstGeom prst="line">
            <a:avLst/>
          </a:prstGeom>
          <a:ln w="3048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88920" y="4507992"/>
            <a:ext cx="566928" cy="566928"/>
          </a:xfrm>
          <a:prstGeom prst="line">
            <a:avLst/>
          </a:prstGeom>
          <a:ln w="30480">
            <a:solidFill>
              <a:srgbClr val="D96B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58998" y="5111496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(a,b)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2697" y="4764024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(c,d)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1481328"/>
            <a:ext cx="5532120" cy="4709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2" y="1481328"/>
            <a:ext cx="57150" cy="470916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60934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3 阶行列式 = 平行六面体的有向体积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821424" y="2029968"/>
          <a:ext cx="2724912" cy="1316736"/>
        </p:xfrm>
        <a:graphic>
          <a:graphicData uri="http://schemas.openxmlformats.org/drawingml/2006/table">
            <a:tbl>
              <a:tblPr/>
              <a:tblGrid>
                <a:gridCol w="908304"/>
                <a:gridCol w="908304"/>
                <a:gridCol w="908304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8" name="Connector 37"/>
          <p:cNvCxnSpPr/>
          <p:nvPr/>
        </p:nvCxnSpPr>
        <p:spPr>
          <a:xfrm>
            <a:off x="6675120" y="2029968"/>
            <a:ext cx="0" cy="131673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92640" y="2029968"/>
            <a:ext cx="0" cy="131673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829800" y="2103120"/>
            <a:ext cx="17373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6 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3! = 6 个乘积项
正负各 3 项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8458200" y="4991526"/>
            <a:ext cx="548640" cy="83394"/>
          </a:xfrm>
          <a:prstGeom prst="line">
            <a:avLst/>
          </a:prstGeom>
          <a:ln w="12700">
            <a:solidFill>
              <a:srgbClr val="C9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458200" y="3894246"/>
            <a:ext cx="548640" cy="83394"/>
          </a:xfrm>
          <a:prstGeom prst="line">
            <a:avLst/>
          </a:prstGeom>
          <a:ln w="12700">
            <a:solidFill>
              <a:srgbClr val="C9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9555480" y="4991526"/>
            <a:ext cx="548640" cy="83394"/>
          </a:xfrm>
          <a:prstGeom prst="line">
            <a:avLst/>
          </a:prstGeom>
          <a:ln w="12700">
            <a:solidFill>
              <a:srgbClr val="C9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006840" y="5074920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006840" y="3977640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104120" y="3977640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06840" y="3977640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58200" y="4991526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45820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55548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58200" y="3894246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8458200" y="3894246"/>
            <a:ext cx="548640" cy="83394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55548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9555480" y="4991526"/>
            <a:ext cx="548640" cy="83394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458200" y="3894246"/>
            <a:ext cx="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9006840" y="397764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80" h="1097280">
                <a:moveTo>
                  <a:pt x="0" y="1097280"/>
                </a:moveTo>
                <a:lnTo>
                  <a:pt x="1097280" y="1097280"/>
                </a:lnTo>
                <a:lnTo>
                  <a:pt x="1097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458200" y="4991526"/>
            <a:ext cx="1645920" cy="83394"/>
          </a:xfrm>
          <a:custGeom>
            <a:avLst/>
            <a:gdLst/>
            <a:ahLst/>
            <a:cxnLst/>
            <a:rect l="l" t="t" r="r" b="b"/>
            <a:pathLst>
              <a:path w="1645920" h="83394">
                <a:moveTo>
                  <a:pt x="548640" y="83394"/>
                </a:moveTo>
                <a:lnTo>
                  <a:pt x="1645920" y="83394"/>
                </a:lnTo>
                <a:lnTo>
                  <a:pt x="1097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458200" y="3894246"/>
            <a:ext cx="548640" cy="1180674"/>
          </a:xfrm>
          <a:custGeom>
            <a:avLst/>
            <a:gdLst/>
            <a:ahLst/>
            <a:cxnLst/>
            <a:rect l="l" t="t" r="r" b="b"/>
            <a:pathLst>
              <a:path w="548640" h="1180674">
                <a:moveTo>
                  <a:pt x="548640" y="1180674"/>
                </a:moveTo>
                <a:lnTo>
                  <a:pt x="548640" y="83394"/>
                </a:lnTo>
                <a:lnTo>
                  <a:pt x="0" y="0"/>
                </a:lnTo>
                <a:lnTo>
                  <a:pt x="0" y="1097280"/>
                </a:lnTo>
                <a:close/>
              </a:path>
            </a:pathLst>
          </a:custGeom>
          <a:solidFill>
            <a:srgbClr val="DE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9006840" y="5074920"/>
            <a:ext cx="1097280" cy="0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006840" y="3977640"/>
            <a:ext cx="0" cy="1097280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8458200" y="4991526"/>
            <a:ext cx="548640" cy="83394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104120" y="3977640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9006840" y="3977640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8458200" y="3894246"/>
            <a:ext cx="548640" cy="83394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45820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55548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458200" y="3894246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555480" y="4991526"/>
            <a:ext cx="548640" cy="83394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58200" y="3894246"/>
            <a:ext cx="548640" cy="83394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555480" y="3894246"/>
            <a:ext cx="548640" cy="83394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55548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458200" y="4991526"/>
            <a:ext cx="1097280" cy="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55548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58200" y="3894246"/>
            <a:ext cx="0" cy="1097280"/>
          </a:xfrm>
          <a:prstGeom prst="line">
            <a:avLst/>
          </a:prstGeom>
          <a:ln w="1651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446520" y="46177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三个行向量
张成平行六面体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55080" y="5440680"/>
            <a:ext cx="5376672" cy="658368"/>
          </a:xfrm>
          <a:prstGeom prst="roundRect">
            <a:avLst>
              <a:gd name="adj" fmla="val 6000"/>
            </a:avLst>
          </a:prstGeom>
          <a:solidFill>
            <a:srgbClr val="FDEEDE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6355080" y="5440680"/>
            <a:ext cx="57150" cy="65836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6483096" y="562356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85432" y="5440680"/>
            <a:ext cx="47183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体积 = |det|；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符号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记录三个方向是否构成右手系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NOTATION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符号约定与记法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后面所有推导都使用这套记法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 = (aᵢⱼ)_n×n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57276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阶方阵，元素 aᵢⱼ 位于第 i 行、第 j 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53167" y="169164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A[i][j]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09854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209854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det A　或　|A|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09854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方阵 A 的行列式，是一个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53167" y="221742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det(A)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62432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" y="262432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62432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 的转置矩阵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53167" y="274320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矩阵转置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15010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" y="315010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Mᵢⱼ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315010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元素 aᵢⱼ 的余子式（划去第 i 行第 j 列后的 n−1 阶行列式）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53167" y="326898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minor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67588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" y="367588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Aᵢⱼ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1528" y="367588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元素 aᵢⱼ 的代数余子式，Aᵢⱼ = (−1)^{i+j} Mᵢⱼ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53167" y="379476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cofactor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420166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792" y="420166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420166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 的伴随矩阵，A* = (Aⱼᵢ)（注意下标转置）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53167" y="432054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adjugate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472744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792" y="472744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τ(j₁j₂…jₙ)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472744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排列 j₁j₂…jₙ 的逆序数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53167" y="484632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inversion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5253228"/>
            <a:ext cx="11240719" cy="5257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5253228"/>
            <a:ext cx="2331720" cy="5257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Dⱼ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81528" y="5253228"/>
            <a:ext cx="6949440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把 |A| 第 j 列换成常数列 b 所得的行列式（Cramer 法则中）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53167" y="5372100"/>
            <a:ext cx="1316736" cy="292608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5870448"/>
            <a:ext cx="11240719" cy="548640"/>
          </a:xfrm>
          <a:prstGeom prst="roundRect">
            <a:avLst>
              <a:gd name="adj" fmla="val 6000"/>
            </a:avLst>
          </a:prstGeom>
          <a:solidFill>
            <a:srgbClr val="FAE4E1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75488" y="5870448"/>
            <a:ext cx="5715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03504" y="599846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870448"/>
            <a:ext cx="1058235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注意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4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|A|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与矩阵的绝对值无关；</a:t>
            </a:r>
            <a:r>
              <a:rPr sz="14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|kA| = kⁿ|A|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（n 阶），而不是 </a:t>
            </a:r>
            <a:r>
              <a:rPr sz="14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k|A|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2.1 全排列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问题：n 阶行列式到底有多少项？符号怎么定？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先把「从每行每列各取一个元素」的所有取法数清楚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54480"/>
            <a:ext cx="11240719" cy="603504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54480"/>
            <a:ext cx="57150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03504" y="1709928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5823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行列式的每一项 = 从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每一行、每一列各取恰好一个元素</a:t>
            </a: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相乘。这样的取法一共有多少种？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359152"/>
            <a:ext cx="370332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75488" y="2359152"/>
            <a:ext cx="57150" cy="38404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487168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枚举：每一行选一列，且列不重复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50392" y="2944368"/>
          <a:ext cx="1627632" cy="841248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04088" y="294436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04088" y="3765296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3928" y="2944368"/>
            <a:ext cx="20320" cy="841248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546604" y="294436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546604" y="3765296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614168" y="2944368"/>
            <a:ext cx="20320" cy="841248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4088" y="39319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2 阶：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取法 (1,2)、(2,1) 两种
→ 2! = 2 项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50392" y="4864608"/>
          <a:ext cx="1810512" cy="1097280"/>
        </p:xfrm>
        <a:graphic>
          <a:graphicData uri="http://schemas.openxmlformats.org/drawingml/2006/table">
            <a:tbl>
              <a:tblPr/>
              <a:tblGrid>
                <a:gridCol w="603504"/>
                <a:gridCol w="603504"/>
                <a:gridCol w="603504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704088" y="486460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04088" y="594156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3928" y="4864608"/>
            <a:ext cx="20320" cy="109728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729484" y="486460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729484" y="594156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797048" y="4864608"/>
            <a:ext cx="20320" cy="109728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62656" y="4956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3 阶：
3! = 6 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2359152"/>
            <a:ext cx="370332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15968" y="2359152"/>
            <a:ext cx="57150" cy="384048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98848" y="2487168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3 阶的全部 6 种取法（即 1,2,3 的全排列）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98848" y="2907792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590288" y="2980944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123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2907792"/>
            <a:ext cx="1600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a₁₁a₂₂a₃₃</a:t>
            </a:r>
          </a:p>
        </p:txBody>
      </p:sp>
      <p:sp>
        <p:nvSpPr>
          <p:cNvPr id="36" name="Oval 35"/>
          <p:cNvSpPr/>
          <p:nvPr/>
        </p:nvSpPr>
        <p:spPr>
          <a:xfrm>
            <a:off x="6903720" y="2980944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8848" y="3442716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590288" y="3515868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231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3442716"/>
            <a:ext cx="1600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a₁₂a₂₃a₃₁</a:t>
            </a:r>
          </a:p>
        </p:txBody>
      </p:sp>
      <p:sp>
        <p:nvSpPr>
          <p:cNvPr id="40" name="Oval 39"/>
          <p:cNvSpPr/>
          <p:nvPr/>
        </p:nvSpPr>
        <p:spPr>
          <a:xfrm>
            <a:off x="6903720" y="351586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98848" y="397764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590288" y="4050792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312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3977640"/>
            <a:ext cx="1600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a₁₃a₂₁a₃₂</a:t>
            </a:r>
          </a:p>
        </p:txBody>
      </p:sp>
      <p:sp>
        <p:nvSpPr>
          <p:cNvPr id="44" name="Oval 43"/>
          <p:cNvSpPr/>
          <p:nvPr/>
        </p:nvSpPr>
        <p:spPr>
          <a:xfrm>
            <a:off x="6903720" y="4050792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8848" y="4512564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4590288" y="4585716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321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4512564"/>
            <a:ext cx="1600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a₁₃a₂₂a₃₁</a:t>
            </a:r>
          </a:p>
        </p:txBody>
      </p:sp>
      <p:sp>
        <p:nvSpPr>
          <p:cNvPr id="48" name="Oval 47"/>
          <p:cNvSpPr/>
          <p:nvPr/>
        </p:nvSpPr>
        <p:spPr>
          <a:xfrm>
            <a:off x="6903720" y="4585716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98848" y="5047488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4590288" y="5120640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213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5047488"/>
            <a:ext cx="1600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a₁₂a₂₁a₃₃</a:t>
            </a:r>
          </a:p>
        </p:txBody>
      </p:sp>
      <p:sp>
        <p:nvSpPr>
          <p:cNvPr id="52" name="Oval 51"/>
          <p:cNvSpPr/>
          <p:nvPr/>
        </p:nvSpPr>
        <p:spPr>
          <a:xfrm>
            <a:off x="6903720" y="512064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98848" y="5582412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4590288" y="5655564"/>
            <a:ext cx="548640" cy="310896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132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0368" y="5582412"/>
            <a:ext cx="1600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a₁₁a₂₃a₃₂</a:t>
            </a:r>
          </a:p>
        </p:txBody>
      </p:sp>
      <p:sp>
        <p:nvSpPr>
          <p:cNvPr id="56" name="Oval 55"/>
          <p:cNvSpPr/>
          <p:nvPr/>
        </p:nvSpPr>
        <p:spPr>
          <a:xfrm>
            <a:off x="6903720" y="5655564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11312" y="2359152"/>
            <a:ext cx="352044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8211312" y="2359152"/>
            <a:ext cx="57150" cy="384048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394192" y="248716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规律：n 阶行列式共有 n! 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2944368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从第 1 行选 1 列：n 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从第 2 行选剩下的 1 列：n−1 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……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从第 n 行选最后 1 列：1 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⇒ 共 n·(n−1)···1 = n! 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这 n! 项里，哪些带「+」号，哪些带「−」号？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答案要用</a:t>
            </a:r>
            <a:r>
              <a:rPr sz="13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排列的奇偶性</a:t>
            </a: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来决定，而这正是下一节「逆序数」要解决的问题。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定义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排列的定义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 n 个不同的数排成一列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672084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14813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6464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定义（全排列）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640994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由 1, 2, …, n 组成的一个</a:t>
            </a:r>
            <a:r>
              <a:rPr sz="15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有序</a:t>
            </a:r>
            <a:r>
              <a:rPr sz="15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数组 j₁j₂…jₙ 称为一个 </a:t>
            </a:r>
            <a:r>
              <a:rPr sz="15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级排列</a:t>
            </a:r>
            <a:r>
              <a:rPr sz="15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（也叫 n 元全排列）。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n 级排列的总数是 n! = n·(n−1)···2·1。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572768"/>
            <a:ext cx="4279392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452360" y="1572768"/>
            <a:ext cx="57150" cy="148132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35240" y="170078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为什么要用它？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975104"/>
            <a:ext cx="39684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行列式每一项的「列下标」正好是 1,2,…,n 的一个排列：</a:t>
            </a:r>
            <a:r>
              <a:rPr sz="140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a₁ⱼ₁ a₂ⱼ₂ … aₙⱼₙ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所有 n! 个排列 ↔ 所有 n! 个乘积项，一一对应。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7355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例：n = 3 时全部 3! = 6 个排列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675887"/>
            <a:ext cx="969264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334256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90288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τ=0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9344" y="3675887"/>
            <a:ext cx="969264" cy="56692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4334256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4590288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τ=1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675887"/>
            <a:ext cx="969264" cy="56692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34256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90288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τ=1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77056" y="3675887"/>
            <a:ext cx="969264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4334256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77056" y="4590288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τ=2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0912" y="3675887"/>
            <a:ext cx="969264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4334256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4590288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τ=2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675887"/>
            <a:ext cx="969264" cy="56692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334256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590288"/>
            <a:ext cx="9692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τ=3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5047488"/>
            <a:ext cx="6720840" cy="786384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75488" y="5047488"/>
            <a:ext cx="57150" cy="78638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03504" y="529437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047488"/>
            <a:ext cx="60624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读法提醒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：排列里的数字是「位置上的值」。
</a:t>
            </a:r>
            <a:r>
              <a:rPr sz="13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231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表示第 1 位是 2、第 2 位是 3、第 3 位是 1。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3273552"/>
            <a:ext cx="4279392" cy="2560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452360" y="3273552"/>
            <a:ext cx="57150" cy="256032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5240" y="3401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标准排列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675888"/>
            <a:ext cx="3968496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12…n 称为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标准排列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（自然顺序）。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它的逆序数为 0，是最简单的偶排列。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行列式中与身份排列对应的项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a₁₁a₂₂…aₙₙ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永远取「+」号。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定义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逆序与逆序数 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数一数「大的排在小的前面」出现了多少次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54480"/>
            <a:ext cx="55321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54480"/>
            <a:ext cx="57150" cy="1298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56816"/>
            <a:ext cx="5221224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在排列 j₁j₂…jₙ 中，若前面的数比后面的大，即 j_s &gt; j_t (s &lt; t)，就称它们构成一个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排列中逆序的总个数称为该排列的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逆序数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，记作 τ(j₁j₂…jₙ)。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926080"/>
            <a:ext cx="5532120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75488" y="2926080"/>
            <a:ext cx="57150" cy="27889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0540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例：τ(3 1 4 2) =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9584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8448" y="3529584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3936" y="3529584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9424" y="3529584"/>
            <a:ext cx="420624" cy="420624"/>
          </a:xfrm>
          <a:prstGeom prst="roundRect">
            <a:avLst>
              <a:gd name="adj" fmla="val 14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8" name="Freeform 17"/>
          <p:cNvSpPr/>
          <p:nvPr/>
        </p:nvSpPr>
        <p:spPr>
          <a:xfrm>
            <a:off x="1033272" y="3950208"/>
            <a:ext cx="475488" cy="274320"/>
          </a:xfrm>
          <a:custGeom>
            <a:avLst/>
            <a:gdLst/>
            <a:ahLst/>
            <a:cxnLst/>
            <a:rect l="l" t="t" r="r" b="b"/>
            <a:pathLst>
              <a:path w="475488" h="274320">
                <a:moveTo>
                  <a:pt x="0" y="0"/>
                </a:moveTo>
                <a:lnTo>
                  <a:pt x="237744" y="274320"/>
                </a:lnTo>
                <a:lnTo>
                  <a:pt x="475488" y="0"/>
                </a:lnTo>
              </a:path>
            </a:pathLst>
          </a:custGeom>
          <a:noFill/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4206240"/>
            <a:ext cx="1280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(3,1)</a:t>
            </a:r>
          </a:p>
        </p:txBody>
      </p:sp>
      <p:sp>
        <p:nvSpPr>
          <p:cNvPr id="20" name="Freeform 19"/>
          <p:cNvSpPr/>
          <p:nvPr/>
        </p:nvSpPr>
        <p:spPr>
          <a:xfrm>
            <a:off x="1033272" y="3950208"/>
            <a:ext cx="1426464" cy="420624"/>
          </a:xfrm>
          <a:custGeom>
            <a:avLst/>
            <a:gdLst/>
            <a:ahLst/>
            <a:cxnLst/>
            <a:rect l="l" t="t" r="r" b="b"/>
            <a:pathLst>
              <a:path w="1426464" h="420624">
                <a:moveTo>
                  <a:pt x="0" y="0"/>
                </a:moveTo>
                <a:lnTo>
                  <a:pt x="713232" y="420624"/>
                </a:lnTo>
                <a:lnTo>
                  <a:pt x="1426464" y="0"/>
                </a:lnTo>
              </a:path>
            </a:pathLst>
          </a:custGeom>
          <a:noFill/>
          <a:ln w="22860">
            <a:solidFill>
              <a:srgbClr val="D96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4352544"/>
            <a:ext cx="1280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(3,2)</a:t>
            </a:r>
          </a:p>
        </p:txBody>
      </p:sp>
      <p:sp>
        <p:nvSpPr>
          <p:cNvPr id="22" name="Freeform 21"/>
          <p:cNvSpPr/>
          <p:nvPr/>
        </p:nvSpPr>
        <p:spPr>
          <a:xfrm>
            <a:off x="1984248" y="3950208"/>
            <a:ext cx="475488" cy="566928"/>
          </a:xfrm>
          <a:custGeom>
            <a:avLst/>
            <a:gdLst/>
            <a:ahLst/>
            <a:cxnLst/>
            <a:rect l="l" t="t" r="r" b="b"/>
            <a:pathLst>
              <a:path w="475488" h="566928">
                <a:moveTo>
                  <a:pt x="0" y="0"/>
                </a:moveTo>
                <a:lnTo>
                  <a:pt x="237744" y="566928"/>
                </a:lnTo>
                <a:lnTo>
                  <a:pt x="475488" y="0"/>
                </a:lnTo>
              </a:path>
            </a:pathLst>
          </a:custGeom>
          <a:noFill/>
          <a:ln w="2286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81912" y="4498848"/>
            <a:ext cx="1280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(4,2)</a:t>
            </a:r>
          </a:p>
        </p:txBody>
      </p:sp>
      <p:sp>
        <p:nvSpPr>
          <p:cNvPr id="24" name="Freeform 23"/>
          <p:cNvSpPr/>
          <p:nvPr/>
        </p:nvSpPr>
        <p:spPr>
          <a:xfrm>
            <a:off x="1508760" y="3950208"/>
            <a:ext cx="950976" cy="713232"/>
          </a:xfrm>
          <a:custGeom>
            <a:avLst/>
            <a:gdLst/>
            <a:ahLst/>
            <a:cxnLst/>
            <a:rect l="l" t="t" r="r" b="b"/>
            <a:pathLst>
              <a:path w="950976" h="713232">
                <a:moveTo>
                  <a:pt x="0" y="0"/>
                </a:moveTo>
                <a:lnTo>
                  <a:pt x="475488" y="713232"/>
                </a:lnTo>
                <a:lnTo>
                  <a:pt x="950976" y="0"/>
                </a:lnTo>
              </a:path>
            </a:pathLst>
          </a:custGeom>
          <a:noFill/>
          <a:ln w="2286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44168" y="4645152"/>
            <a:ext cx="12801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(1,2)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828032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每个弧线 = 一个逆序。共 4 个 ⇒ τ =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，为偶数。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等价说法：把排列还原成 123…n 需要交换 4 次相邻元素。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554480"/>
            <a:ext cx="553212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99632" y="1554480"/>
            <a:ext cx="57150" cy="416052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82512" y="16824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算法：O(n²) 双重循环求逆序数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121408"/>
            <a:ext cx="5120640" cy="2148840"/>
          </a:xfrm>
          <a:prstGeom prst="rect">
            <a:avLst/>
          </a:prstGeom>
          <a:solidFill>
            <a:srgbClr val="F7F9FB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28816" y="2212848"/>
            <a:ext cx="48920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6FB2"/>
                </a:solidFill>
                <a:latin typeface="Consolas"/>
                <a:ea typeface="Consolas"/>
                <a:cs typeface="Consolas"/>
              </a:rPr>
              <a:t>def inversions(p):        # p: list of a permutation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  <a:ea typeface="Consolas"/>
                <a:cs typeface="Consolas"/>
              </a:rPr>
              <a:t>    cnt = 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  <a:ea typeface="Consolas"/>
                <a:cs typeface="Consolas"/>
              </a:rPr>
              <a:t>    for i in range(len(p)):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  <a:ea typeface="Consolas"/>
                <a:cs typeface="Consolas"/>
              </a:rPr>
              <a:t>        for j in range(i + 1, len(p)):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  <a:ea typeface="Consolas"/>
                <a:cs typeface="Consolas"/>
              </a:rPr>
              <a:t>            if p[i] &gt; p[j]:    # 前大后小 ⇒ 一个逆序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  <a:ea typeface="Consolas"/>
                <a:cs typeface="Consolas"/>
              </a:rPr>
              <a:t>                cnt +=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6FB2"/>
                </a:solidFill>
                <a:latin typeface="Consolas"/>
                <a:ea typeface="Consolas"/>
                <a:cs typeface="Consolas"/>
              </a:rPr>
              <a:t>    return cnt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Consolas"/>
                <a:ea typeface="Consolas"/>
                <a:cs typeface="Consolas"/>
              </a:rPr>
              <a:t># inversions([3, 1, 4, 2]) --&gt; 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8912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手算技巧：对每个数，数它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前面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有几个比它大的数，再求和。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τ(3142) = 0 + 1 + 0 + 3 = 4　（3 前无；1 前有 3；4 前无；2 前有 3,4 和 1）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833872"/>
            <a:ext cx="5532120" cy="548640"/>
          </a:xfrm>
          <a:prstGeom prst="roundRect">
            <a:avLst>
              <a:gd name="adj" fmla="val 6000"/>
            </a:avLst>
          </a:prstGeom>
          <a:solidFill>
            <a:srgbClr val="DEF2F3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99632" y="5833872"/>
            <a:ext cx="57150" cy="54864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327648" y="5961888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5833872"/>
            <a:ext cx="4873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逆序数只关乎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相对大小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，与具体数值无关。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定义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奇排列与偶排列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τ 的奇偶性，就是行列式各项符号的来源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13898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13898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522122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τ(j₁j₂…jₙ) 为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偶数</a:t>
            </a: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⇒ 偶排列；为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奇数</a:t>
            </a: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⇒ 奇排列。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则行列式中该项的符号就是 (−1)^τ：偶排列取 +，奇排列取 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3090672"/>
            <a:ext cx="553212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75488" y="3090672"/>
            <a:ext cx="57150" cy="320040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21868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n = 3：6 个排列中奇偶各占一半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5760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偶排列（+）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3602736"/>
            <a:ext cx="1097280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4206240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τ=0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3602736"/>
            <a:ext cx="1097280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4206240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τ=2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8" y="3602736"/>
            <a:ext cx="1097280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206240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τ=2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48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奇排列（−）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7128" y="4700016"/>
            <a:ext cx="1097280" cy="56692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7128" y="5303520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τ=3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4700016"/>
            <a:ext cx="1097280" cy="56692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5303520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τ=1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8" y="4700016"/>
            <a:ext cx="1097280" cy="56692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5303520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τ=1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572768"/>
            <a:ext cx="5532120" cy="208483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99632" y="1572768"/>
            <a:ext cx="57150" cy="2084831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定理：对换改变排列的奇偶性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1975104"/>
            <a:ext cx="5221224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把一个排列中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任意两个数交换位置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（称为一次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对换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），奇排列变偶排列，偶排列变奇排列。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推论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一次对换 ⇒ 逆序数的奇偶性翻转
· 对换 s 次 ⇒ 奇偶性改变 s 次的累积效果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785615"/>
            <a:ext cx="5532120" cy="25054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199632" y="3785615"/>
            <a:ext cx="57150" cy="2505456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82512" y="3913631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一个重要事实：所有 n! 个排列中奇偶各占一半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52544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配对思想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：把每个偶排列的第 1、2 位对换，就得到唯一的奇排列；反之亦然。于是偶排列与奇排列一一配对。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n = 2：+ 1 项，− 1 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n = 3：+ 3 项，− 3 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= 4：+ 12 项，− 12 项（共 24 = 4!）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这一点在几何上解释了三阶行列式的「三条对角线」法则为什么这么对称。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工具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逆序数的两种算法与乘积项的符号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手算用第一种，程序用第二种，公式用第三种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2148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算法 A（手算）：逐个数字数「前面比它大的」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139696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τ(j₁j₂…jₙ) = 每个位置上「左边比它大的数的个数」之和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τ(4 5 1 3 2) = 0 + 0 + 2 + 2 + 3 = 7（奇排列）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也可等价地数「后面比它小的数」，结果相同。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53212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72768"/>
            <a:ext cx="57150" cy="214884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算法 B（程序）：归并排序 / 树状数组 O(n log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39696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逆序数 = 归并排序中「右段元素先于左段元素归位」的次数。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暴力 O(n²) 对 n ≤ 10⁴ 尚可；n = 10⁶ 时用树状数组 / 归并。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这提示我们</a:t>
            </a:r>
            <a:r>
              <a:rPr sz="130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：行列式的定义是 O(n·n!)，比求逆序数昂贵得多。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858768"/>
            <a:ext cx="11240719" cy="24323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3858768"/>
            <a:ext cx="57150" cy="2432304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98678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乘积项 a_{1j₁} a_{2j₂} … a_{njₙ} 的符号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69264" y="4498848"/>
          <a:ext cx="1627632" cy="1243584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</a:tblGrid>
              <a:tr h="31089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a₁ⱼ₁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a₂ⱼ₂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aₙⱼₙ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17520" y="4498848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行下标固定为 1,2,…,n（自然顺序）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列下标组成排列 j₁j₂…jₙ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· 符号 = (−1)^τ(j₁j₂…jₙ)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443984"/>
            <a:ext cx="4754880" cy="1463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符号：sgn(j₁j₂…jₙ) = (−1)^τ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例：a₁₃a₂₁a₃₂ 的列下标 312，τ = 2 ⇒ +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例：a₁₃a₂₂a₃₁ 的列下标 321，τ = 3 ⇒ 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练习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课堂即时练习：数逆序、定符号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先自己做，再看答案（点击 / 讲解）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27632"/>
            <a:ext cx="11240719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57150" cy="10789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109298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621792" y="184708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737360"/>
            <a:ext cx="46634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求 τ(4 1 3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773936"/>
            <a:ext cx="20320" cy="78638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0488" y="1737360"/>
            <a:ext cx="539496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 前有 4 → 1；3 前有 4 → 1；2 前有 4,3 → 2。合计 </a:t>
            </a:r>
            <a:r>
              <a:rPr sz="13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（偶排列）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798064"/>
            <a:ext cx="11240719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2798064"/>
            <a:ext cx="57150" cy="1078992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926080"/>
            <a:ext cx="109298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7" name="Oval 16"/>
          <p:cNvSpPr/>
          <p:nvPr/>
        </p:nvSpPr>
        <p:spPr>
          <a:xfrm>
            <a:off x="621792" y="3017520"/>
            <a:ext cx="420624" cy="420624"/>
          </a:xfrm>
          <a:prstGeom prst="ellipse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907792"/>
            <a:ext cx="46634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求 τ(n, n−1, …, 2,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7608" y="2944368"/>
            <a:ext cx="20320" cy="78638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90488" y="2907792"/>
            <a:ext cx="539496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每个数都比它后面所有数大：(n−1)+(n−2)+…+1 = </a:t>
            </a:r>
            <a:r>
              <a:rPr sz="13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n(n−1)/2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3968496"/>
            <a:ext cx="11240719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75488" y="3968496"/>
            <a:ext cx="57150" cy="10789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4096512"/>
            <a:ext cx="109298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4" name="Oval 23"/>
          <p:cNvSpPr/>
          <p:nvPr/>
        </p:nvSpPr>
        <p:spPr>
          <a:xfrm>
            <a:off x="621792" y="4187952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078224"/>
            <a:ext cx="46634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在 5 阶行列式中，a₁₃a₂₄a₃₂a₄₁a₅₅ 取什么符号？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7608" y="4114800"/>
            <a:ext cx="20320" cy="78638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90488" y="4078224"/>
            <a:ext cx="539496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列下标 3 4 2 1 5，τ = 2+2+1+0 = </a:t>
            </a:r>
            <a:r>
              <a:rPr sz="13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（奇）⇒ 取 </a:t>
            </a:r>
            <a:r>
              <a:rPr sz="13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−</a:t>
            </a: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 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138928"/>
            <a:ext cx="11240719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5138928"/>
            <a:ext cx="57150" cy="1078992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5266944"/>
            <a:ext cx="109298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31" name="Oval 30"/>
          <p:cNvSpPr/>
          <p:nvPr/>
        </p:nvSpPr>
        <p:spPr>
          <a:xfrm>
            <a:off x="621792" y="5358384"/>
            <a:ext cx="420624" cy="420624"/>
          </a:xfrm>
          <a:prstGeom prst="ellipse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5248656"/>
            <a:ext cx="466344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τ(1 3 5 … (2n−1) 2 4 … 2n) =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7608" y="5285232"/>
            <a:ext cx="20320" cy="78638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190488" y="5248656"/>
            <a:ext cx="539496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每个偶数 2k 前面有 n−k 个奇数比它大 ⇒ Σ(n−k) = </a:t>
            </a:r>
            <a:r>
              <a:rPr sz="13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n(n−1)/2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5742432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75488" y="5742432"/>
            <a:ext cx="57150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03504" y="5879592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742432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结论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：奇偶性决定了每一项的正负号，而 τ 的计算是纯组合问题 —— 这也是为什么行列式的定义「看起来」很抽象。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§2.1 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把这一节的工具打包带走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2331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要记住的三件事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5221224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n 级排列共 </a:t>
            </a:r>
            <a:r>
              <a:rPr sz="14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n!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个；行列式的 n! 个乘积项与它们一一对应。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4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逆序数 τ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：前面比后面大的数对的个数。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符号 = </a:t>
            </a:r>
            <a:r>
              <a:rPr sz="14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(−1)^τ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：偶排列取 +，奇排列取 −。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④ 一次对换 ⇒ 奇偶性翻转。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72768"/>
            <a:ext cx="5715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75104"/>
            <a:ext cx="5221224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✗ 把行下标也当成排列去算 —— 行下标永远是 1,2,…,n。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✗ 只数相邻的逆序 —— 逆序不要求相邻。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✗ 认为「n! 项里正负各一半」在任何 n 下都显然 —— n ≥ 2 时确实各占一半，但需要配对论证。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4041648"/>
            <a:ext cx="11240719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4041648"/>
            <a:ext cx="57150" cy="157276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416966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下一节预告：n 阶行列式的定义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58521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|A| = Σ_{j₁j₂…jₙ} (−1)^τ(j₁…jₙ) · a_{1j₁}a_{2j₂}…a_{njₙ}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553712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这个求和式并不适合计算，但它给出两个关键信息：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行列式是元素的多项式，共有 n! 项；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符号只由列排列的奇偶性决定。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5760720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75488" y="5760720"/>
            <a:ext cx="57150" cy="566928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3504" y="589788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提醒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：下一节我们先用这个定义解释 2、3 阶的「对角线法则」，再从几何上理解行列式为什么是面积 / 体积。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定义 2.1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 阶行列式的定义（Leibniz 展开式）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 阶方阵 A 对应一个数 |A|：n! 个乘积项的代数和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54480"/>
            <a:ext cx="11240719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54480"/>
            <a:ext cx="57150" cy="2212848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" y="1664208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定义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42416" y="2084831"/>
          <a:ext cx="2039112" cy="1389888"/>
        </p:xfrm>
        <a:graphic>
          <a:graphicData uri="http://schemas.openxmlformats.org/drawingml/2006/table">
            <a:tbl>
              <a:tblPr/>
              <a:tblGrid>
                <a:gridCol w="551111"/>
                <a:gridCol w="551111"/>
                <a:gridCol w="385777"/>
                <a:gridCol w="551113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896112" y="2084831"/>
            <a:ext cx="0" cy="138988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27832" y="2084831"/>
            <a:ext cx="0" cy="138988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000" y="1975104"/>
            <a:ext cx="8183879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|A| = Σ_{j₁j₂…jₙ} (−1)^τ(j₁j₂…jₙ) · a_{1j₁} a_{2j₂} … a_{njₙ}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87168"/>
            <a:ext cx="8183879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求和跑遍所有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级排列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j₁j₂…jₙ，共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n!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项；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每一项是取自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不同行、不同列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的 n 个元素之积；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符号由列下标排列的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逆序数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τ 决定：偶取 +，奇取 −。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也记作 det(A)；规定 </a:t>
            </a:r>
            <a:r>
              <a:rPr sz="1350" b="1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1 阶行列式 |a₁₁| = a₁₁</a:t>
            </a:r>
            <a:r>
              <a:rPr sz="135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913632"/>
            <a:ext cx="11240719" cy="530352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3913632"/>
            <a:ext cx="57150" cy="5303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03504" y="403250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13632"/>
            <a:ext cx="1058235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记忆钩子：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「行标有序、列标排列、逆序定号、全取一遍」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4590288"/>
            <a:ext cx="3611880" cy="1417320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75488" y="4590288"/>
            <a:ext cx="57150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4718304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行标固定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92624"/>
            <a:ext cx="3300984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第 1 行取 a₁ⱼ₁、第 2 行取 a₂ⱼ₂……
每一行恰好用一次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4590288"/>
            <a:ext cx="3611880" cy="1417320"/>
          </a:xfrm>
          <a:prstGeom prst="roundRect">
            <a:avLst>
              <a:gd name="adj" fmla="val 4500"/>
            </a:avLst>
          </a:prstGeom>
          <a:solidFill>
            <a:srgbClr val="DEF2F3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270248" y="4590288"/>
            <a:ext cx="57150" cy="141732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53128" y="4718304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列标跑遍 n!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992624"/>
            <a:ext cx="3300984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j₁j₂…jₙ 取遍全部 n! 个排列
每一列也恰好用一次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4590288"/>
            <a:ext cx="3611880" cy="1417320"/>
          </a:xfrm>
          <a:prstGeom prst="roundRect">
            <a:avLst>
              <a:gd name="adj" fmla="val 4500"/>
            </a:avLst>
          </a:prstGeom>
          <a:solidFill>
            <a:srgbClr val="FDEED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65008" y="4590288"/>
            <a:ext cx="57150" cy="14173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47888" y="4718304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符号 (−1)^τ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992624"/>
            <a:ext cx="3300984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τ 偶 ⇒ + ，τ 奇 ⇒ −
只看列下标的相对次序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6108192"/>
            <a:ext cx="11240719" cy="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计算技巧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三阶行列式的对角线法则（Sarrus 法则）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 n! = 6 项画出来：3 条绿色方向取 +，3 条红色方向取 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481328"/>
            <a:ext cx="5074920" cy="2395728"/>
          </a:xfrm>
          <a:prstGeom prst="roundRect">
            <a:avLst>
              <a:gd name="adj" fmla="val 4500"/>
            </a:avLst>
          </a:prstGeom>
          <a:solidFill>
            <a:srgbClr val="E4F1E4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481328"/>
            <a:ext cx="57150" cy="2395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三条「＋」项：列下标 123、231、312（τ 为偶数）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38528"/>
            <a:ext cx="2148840" cy="1289304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>
            <a:off x="4398264" y="1938528"/>
            <a:ext cx="0" cy="1289304"/>
          </a:xfrm>
          <a:prstGeom prst="line">
            <a:avLst/>
          </a:prstGeom>
          <a:ln w="12700">
            <a:solidFill>
              <a:srgbClr val="C9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08960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a₁₁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a₁₂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a₂₁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a₂₂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a₃₁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a₃₂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8496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a₃₃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a₃₁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a₃₂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23844" y="2153412"/>
            <a:ext cx="859536" cy="859536"/>
          </a:xfrm>
          <a:prstGeom prst="line">
            <a:avLst/>
          </a:prstGeom>
          <a:ln w="33020">
            <a:solidFill>
              <a:srgbClr val="9CD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53612" y="2153412"/>
            <a:ext cx="859536" cy="859536"/>
          </a:xfrm>
          <a:prstGeom prst="line">
            <a:avLst/>
          </a:prstGeom>
          <a:ln w="33020">
            <a:solidFill>
              <a:srgbClr val="9CD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83380" y="2153412"/>
            <a:ext cx="859536" cy="859536"/>
          </a:xfrm>
          <a:prstGeom prst="line">
            <a:avLst/>
          </a:prstGeom>
          <a:ln w="33020">
            <a:solidFill>
              <a:srgbClr val="9CD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08960" y="3282696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三条斜线方向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1481328"/>
            <a:ext cx="5532120" cy="2395728"/>
          </a:xfrm>
          <a:prstGeom prst="roundRect">
            <a:avLst>
              <a:gd name="adj" fmla="val 4500"/>
            </a:avLst>
          </a:prstGeom>
          <a:solidFill>
            <a:srgbClr val="FAE4E1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99632" y="1481328"/>
            <a:ext cx="57150" cy="2395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82512" y="160934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三条「−」项：列下标 321、132、213（τ 为奇数）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1938528"/>
            <a:ext cx="2148840" cy="1289304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10616184" y="1938528"/>
            <a:ext cx="0" cy="1289304"/>
          </a:xfrm>
          <a:prstGeom prst="line">
            <a:avLst/>
          </a:prstGeom>
          <a:ln w="12700">
            <a:solidFill>
              <a:srgbClr val="C9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26880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4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a₁₁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5952" y="193852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a₁₂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6416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16184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a₂₁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45952" y="236829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a₂₂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a₃₁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a₃₂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6416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a₃₃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16184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a₃₁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45952" y="2798064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FB8"/>
                </a:solidFill>
                <a:latin typeface="Cambria"/>
                <a:ea typeface="Cambria"/>
                <a:cs typeface="Cambria"/>
              </a:rPr>
              <a:t>a₃₂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9541764" y="2153412"/>
            <a:ext cx="859536" cy="859536"/>
          </a:xfrm>
          <a:prstGeom prst="line">
            <a:avLst/>
          </a:prstGeom>
          <a:ln w="33020">
            <a:solidFill>
              <a:srgbClr val="E8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971532" y="2153412"/>
            <a:ext cx="859536" cy="859536"/>
          </a:xfrm>
          <a:prstGeom prst="line">
            <a:avLst/>
          </a:prstGeom>
          <a:ln w="33020">
            <a:solidFill>
              <a:srgbClr val="E8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0401300" y="2153412"/>
            <a:ext cx="859536" cy="859536"/>
          </a:xfrm>
          <a:prstGeom prst="line">
            <a:avLst/>
          </a:prstGeom>
          <a:ln w="33020">
            <a:solidFill>
              <a:srgbClr val="E8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326880" y="3282696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三条斜线方向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" y="4005072"/>
            <a:ext cx="112407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浅色两列是把第 1、2 列复制过来的「辅助列」，只为让斜线连续；行列式的值不变。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5488" y="4389120"/>
            <a:ext cx="553212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4389120"/>
            <a:ext cx="5715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8368" y="451713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符号为「＋」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" y="4809744"/>
            <a:ext cx="5120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a₁₁a₂₂a₃₃ + a₁₂a₂₃a₃₁ + a₁₃a₂₁a₃₂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9632" y="4389120"/>
            <a:ext cx="553212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99632" y="4389120"/>
            <a:ext cx="5715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382512" y="451713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符号为「−」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809744"/>
            <a:ext cx="5120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a₁₃a₂₂a₃₁ − a₁₁a₂₃a₃₂ − a₁₂a₂₁a₃₃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8" y="5486400"/>
            <a:ext cx="11240719" cy="658368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475488" y="5486400"/>
            <a:ext cx="5715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603504" y="566928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486400"/>
            <a:ext cx="1058235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Sarrus 法则（只对 3 阶成立）</a:t>
            </a: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　|A| = a₁₁a₂₂a₃₃ + a₁₂a₂₃a₃₁ + a₁₃a₂₁a₃₂ − a₁₃a₂₂a₃₁ − a₁₁a₂₃a₃₂ − a₁₂a₂₁a₃₃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常见误区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对角线法则为什么不能推广到 4 阶？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4 阶有 4! = 24 项，而「斜线」只能画出 8 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120640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对角线法则给出的项数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480974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阶「斜线」共有 2n 条 ⇒ 2n 个乘积项。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= 2：2n = 4 ✗（正确是 2! = 2 项）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= 3：2n = 6 ✓（恰好等于 3! = 6，纯属巧合）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n = 4：2n = 8 ✗（正确是 4! = 24 项）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3977639"/>
          <a:ext cx="4828032" cy="2194560"/>
        </p:xfrm>
        <a:graphic>
          <a:graphicData uri="http://schemas.openxmlformats.org/drawingml/2006/table">
            <a:tbl>
              <a:tblPr/>
              <a:tblGrid>
                <a:gridCol w="852005"/>
                <a:gridCol w="1420009"/>
                <a:gridCol w="1136007"/>
                <a:gridCol w="1420011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n!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2n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是否相等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✓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720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475488" y="3977639"/>
            <a:ext cx="0" cy="219456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96128" y="3977639"/>
            <a:ext cx="0" cy="219456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70448" y="1572768"/>
            <a:ext cx="5852160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870448" y="1572768"/>
            <a:ext cx="57150" cy="22128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53328" y="1700784"/>
            <a:ext cx="5596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「斜线」到底画出了什么？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975104"/>
            <a:ext cx="554126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真正合法的项必须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每行每列各取一个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斜线只能覆盖「列下标为循环移位」的那 2n 个排列，漏掉了其余 n! − 2n 个排列。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n = 3 时 6 个排列恰好全是循环移位，所以巧合成立。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0448" y="3977639"/>
            <a:ext cx="5852160" cy="1325880"/>
          </a:xfrm>
          <a:prstGeom prst="roundRect">
            <a:avLst>
              <a:gd name="adj" fmla="val 6000"/>
            </a:avLst>
          </a:prstGeom>
          <a:solidFill>
            <a:srgbClr val="FAE4E1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70448" y="3977639"/>
            <a:ext cx="57150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998464" y="4494275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39"/>
            <a:ext cx="5193792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反面教材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
把 4 阶行列式按斜线展开，会漏掉 16 项，结果一般错误。
4 阶请用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性质化三角形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或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展开定理降阶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5532120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75488" y="5532120"/>
            <a:ext cx="57150" cy="566928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3504" y="566928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正确做法预告：把矩阵化为上三角形，则 |A| = 主对角线元素之积（见 §2.3）。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由定义直接得到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几类「一眼看出答案」的行列式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抓住「哪些乘积项可能不为零」这个关键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09344"/>
            <a:ext cx="2761488" cy="3017520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609344"/>
            <a:ext cx="57150" cy="30175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700784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上三角行列式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77824" y="2212848"/>
          <a:ext cx="1344168" cy="987552"/>
        </p:xfrm>
        <a:graphic>
          <a:graphicData uri="http://schemas.openxmlformats.org/drawingml/2006/table">
            <a:tbl>
              <a:tblPr/>
              <a:tblGrid>
                <a:gridCol w="448056"/>
                <a:gridCol w="448056"/>
                <a:gridCol w="448056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749808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50008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3273552"/>
            <a:ext cx="2487168" cy="6035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= a₁₁a₂₂a₃₃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9136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只有 j₁j₂j₃ = 123 一项非零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1609344"/>
            <a:ext cx="2761488" cy="3017520"/>
          </a:xfrm>
          <a:prstGeom prst="roundRect">
            <a:avLst>
              <a:gd name="adj" fmla="val 4500"/>
            </a:avLst>
          </a:prstGeom>
          <a:solidFill>
            <a:srgbClr val="DEF2F3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374136" y="1609344"/>
            <a:ext cx="57150" cy="301752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20440" y="1700784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下三角行列式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76472" y="2212848"/>
          <a:ext cx="1344168" cy="987552"/>
        </p:xfrm>
        <a:graphic>
          <a:graphicData uri="http://schemas.openxmlformats.org/drawingml/2006/table">
            <a:tbl>
              <a:tblPr/>
              <a:tblGrid>
                <a:gridCol w="448056"/>
                <a:gridCol w="448056"/>
                <a:gridCol w="448056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3648456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48656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11296" y="3273552"/>
            <a:ext cx="2487168" cy="6035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= a₁₁a₂₂a₃₃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39136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同上，τ(123) = 0 取 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1609344"/>
            <a:ext cx="2761488" cy="3017520"/>
          </a:xfrm>
          <a:prstGeom prst="roundRect">
            <a:avLst>
              <a:gd name="adj" fmla="val 4500"/>
            </a:avLst>
          </a:prstGeom>
          <a:solidFill>
            <a:srgbClr val="E4F1E4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72784" y="1609344"/>
            <a:ext cx="57150" cy="3017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19088" y="1700784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对角行列式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675120" y="2212848"/>
          <a:ext cx="1344168" cy="987552"/>
        </p:xfrm>
        <a:graphic>
          <a:graphicData uri="http://schemas.openxmlformats.org/drawingml/2006/table">
            <a:tbl>
              <a:tblPr/>
              <a:tblGrid>
                <a:gridCol w="448056"/>
                <a:gridCol w="448056"/>
                <a:gridCol w="448056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6547104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47304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9944" y="3273552"/>
            <a:ext cx="2487168" cy="6035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= a₁₁a₂₂a₃₃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9136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三角形行列式的特例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71432" y="1609344"/>
            <a:ext cx="2761488" cy="3017520"/>
          </a:xfrm>
          <a:prstGeom prst="roundRect">
            <a:avLst>
              <a:gd name="adj" fmla="val 4500"/>
            </a:avLst>
          </a:prstGeom>
          <a:solidFill>
            <a:srgbClr val="FDEED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171432" y="1609344"/>
            <a:ext cx="57150" cy="30175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17736" y="1700784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副对角行列式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9573768" y="2212848"/>
          <a:ext cx="1344168" cy="987552"/>
        </p:xfrm>
        <a:graphic>
          <a:graphicData uri="http://schemas.openxmlformats.org/drawingml/2006/table">
            <a:tbl>
              <a:tblPr/>
              <a:tblGrid>
                <a:gridCol w="448056"/>
                <a:gridCol w="448056"/>
                <a:gridCol w="448056"/>
              </a:tblGrid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5" name="Connector 34"/>
          <p:cNvCxnSpPr/>
          <p:nvPr/>
        </p:nvCxnSpPr>
        <p:spPr>
          <a:xfrm>
            <a:off x="9445752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45952" y="2212848"/>
            <a:ext cx="0" cy="98755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08592" y="3273552"/>
            <a:ext cx="2487168" cy="6035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= −a₁₃a₂₂a₃₁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9136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列下标 321，τ = 3 ⇒ 负号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4800600"/>
            <a:ext cx="553212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75488" y="4800600"/>
            <a:ext cx="57150" cy="16459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92861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零元素多 ⇒ 项数少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202936"/>
            <a:ext cx="522122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每一个乘积项 a₁ⱼ₁a₂ⱼ₂…aₙⱼₙ 只要含一个 0 就整体为 0。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所以</a:t>
            </a:r>
            <a:r>
              <a:rPr sz="135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先找零</a:t>
            </a:r>
            <a:r>
              <a:rPr sz="1350" b="0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、再选可能的排列，是手算行列式的第一步直觉。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这也是「化三角形」策略的数学依据：目标就是让非对角元全为 0。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4800600"/>
            <a:ext cx="553212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199632" y="4800600"/>
            <a:ext cx="5715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82512" y="492861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两个必须记住的特例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202936"/>
            <a:ext cx="522122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有一行（列）全为 0 ⇒ 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|A|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有两行（列）完全相同 ⇒ 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|A| = 0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（下一节给证明）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 = E ⇒ |E| = 1（标准排列一项，τ = 0）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2×2 完全解读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回到 2 阶：一个公式，两种读法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2 阶行列式是本讲所有几何直觉的原型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24712" y="1783080"/>
          <a:ext cx="2313432" cy="1133856"/>
        </p:xfrm>
        <a:graphic>
          <a:graphicData uri="http://schemas.openxmlformats.org/drawingml/2006/table">
            <a:tbl>
              <a:tblPr/>
              <a:tblGrid>
                <a:gridCol w="1156716"/>
                <a:gridCol w="1156716"/>
              </a:tblGrid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978408" y="1783080"/>
            <a:ext cx="0" cy="113385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84448" y="1783080"/>
            <a:ext cx="0" cy="113385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58768" y="1874519"/>
            <a:ext cx="274320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= ad − 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1752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「主对角线之积 − 副对角线之积」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列下标：12 → τ=0 → +；21 → τ=1 → 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3931920"/>
            <a:ext cx="5532120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" y="3931920"/>
            <a:ext cx="57150" cy="23957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405993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① 代数读法：解方程组的「开关」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80560"/>
            <a:ext cx="5120640" cy="1737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ax + by = 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cx + dy = f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ad − bc ≠ 0 ⇒ 唯一解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ad − bc = 0 ⇒ 无解或无穷多解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931920"/>
            <a:ext cx="5532120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99632" y="3931920"/>
            <a:ext cx="57150" cy="239572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2512" y="405993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② 几何读法：有向面积</a:t>
            </a:r>
          </a:p>
        </p:txBody>
      </p:sp>
      <p:sp>
        <p:nvSpPr>
          <p:cNvPr id="19" name="Freeform 18"/>
          <p:cNvSpPr/>
          <p:nvPr/>
        </p:nvSpPr>
        <p:spPr>
          <a:xfrm>
            <a:off x="9509760" y="4581144"/>
            <a:ext cx="1901952" cy="950976"/>
          </a:xfrm>
          <a:custGeom>
            <a:avLst/>
            <a:gdLst/>
            <a:ahLst/>
            <a:cxnLst/>
            <a:rect l="l" t="t" r="r" b="b"/>
            <a:pathLst>
              <a:path w="1901952" h="950976">
                <a:moveTo>
                  <a:pt x="0" y="950976"/>
                </a:moveTo>
                <a:lnTo>
                  <a:pt x="1426464" y="950976"/>
                </a:lnTo>
                <a:lnTo>
                  <a:pt x="1901952" y="0"/>
                </a:lnTo>
                <a:lnTo>
                  <a:pt x="475488" y="0"/>
                </a:lnTo>
                <a:close/>
              </a:path>
            </a:pathLst>
          </a:custGeom>
          <a:solidFill>
            <a:srgbClr val="FDEEDE"/>
          </a:solidFill>
          <a:ln w="20320">
            <a:solidFill>
              <a:srgbClr val="D96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509760" y="5532120"/>
            <a:ext cx="1426464" cy="0"/>
          </a:xfrm>
          <a:prstGeom prst="line">
            <a:avLst/>
          </a:prstGeom>
          <a:ln w="3048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52176" y="563270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r₁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9509760" y="4581144"/>
            <a:ext cx="475488" cy="950976"/>
          </a:xfrm>
          <a:prstGeom prst="line">
            <a:avLst/>
          </a:prstGeom>
          <a:ln w="30480">
            <a:solidFill>
              <a:srgbClr val="D96B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784080" y="435254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r₂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98848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把两行看作向量 r₁, r₂：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|det| = 平行四边形面积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det = 0 ⇔ r₁, r₂ 共线
（面积为 0）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det &lt; 0 ⇔ 从 r₁ 转到 r₂
是顺时针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核心直观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几何意义 I：二阶行列式 = 有向面积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矩阵把单位正方形「变形」成平行四边形，面积恰好放大 |det| 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43200"/>
            <a:ext cx="0" cy="292608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17320" y="2743200"/>
            <a:ext cx="0" cy="292608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80360" y="2743200"/>
            <a:ext cx="0" cy="292608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11880" y="2743200"/>
            <a:ext cx="0" cy="292608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" y="2743200"/>
            <a:ext cx="2926080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" y="3474720"/>
            <a:ext cx="2926080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4937760"/>
            <a:ext cx="2926080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" y="5669280"/>
            <a:ext cx="2926080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" y="4206240"/>
            <a:ext cx="3218688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48840" y="2542032"/>
            <a:ext cx="0" cy="3218688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4242816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414016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19" name="Freeform 18"/>
          <p:cNvSpPr/>
          <p:nvPr/>
        </p:nvSpPr>
        <p:spPr>
          <a:xfrm>
            <a:off x="2148840" y="347472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731520" y="731520"/>
                </a:lnTo>
                <a:lnTo>
                  <a:pt x="731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3F5"/>
          </a:solidFill>
          <a:ln w="20320">
            <a:solidFill>
              <a:srgbClr val="14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148840" y="4206240"/>
            <a:ext cx="731520" cy="0"/>
          </a:xfrm>
          <a:prstGeom prst="line">
            <a:avLst/>
          </a:prstGeom>
          <a:ln w="2794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42032" y="430682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e₁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148840" y="3474720"/>
            <a:ext cx="0" cy="731520"/>
          </a:xfrm>
          <a:prstGeom prst="line">
            <a:avLst/>
          </a:prstGeom>
          <a:ln w="2794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84248" y="330098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e₂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单位正方形：面积 =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21608" y="3291840"/>
            <a:ext cx="1024128" cy="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38728" y="27889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 作用
（线性变换）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03136" y="2615184"/>
            <a:ext cx="0" cy="340156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70064" y="2615184"/>
            <a:ext cx="0" cy="340156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36992" y="2615184"/>
            <a:ext cx="0" cy="340156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70848" y="2615184"/>
            <a:ext cx="0" cy="340156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37776" y="2615184"/>
            <a:ext cx="0" cy="340156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04704" y="2615184"/>
            <a:ext cx="0" cy="340156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03136" y="2615184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03136" y="3182112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03136" y="3749040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03136" y="4882896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803136" y="5449824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03136" y="6016752"/>
            <a:ext cx="340156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11696" y="4315968"/>
            <a:ext cx="369417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503920" y="2414016"/>
            <a:ext cx="0" cy="369417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250424" y="4352544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28600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43" name="Freeform 42"/>
          <p:cNvSpPr/>
          <p:nvPr/>
        </p:nvSpPr>
        <p:spPr>
          <a:xfrm>
            <a:off x="8503920" y="3182112"/>
            <a:ext cx="1700784" cy="1133856"/>
          </a:xfrm>
          <a:custGeom>
            <a:avLst/>
            <a:gdLst/>
            <a:ahLst/>
            <a:cxnLst/>
            <a:rect l="l" t="t" r="r" b="b"/>
            <a:pathLst>
              <a:path w="1700784" h="1133856">
                <a:moveTo>
                  <a:pt x="0" y="1133856"/>
                </a:moveTo>
                <a:lnTo>
                  <a:pt x="1133856" y="566928"/>
                </a:lnTo>
                <a:lnTo>
                  <a:pt x="1700784" y="0"/>
                </a:lnTo>
                <a:lnTo>
                  <a:pt x="566928" y="566928"/>
                </a:lnTo>
                <a:close/>
              </a:path>
            </a:pathLst>
          </a:custGeom>
          <a:solidFill>
            <a:srgbClr val="FDEEDE"/>
          </a:solidFill>
          <a:ln w="22860">
            <a:solidFill>
              <a:srgbClr val="D96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8503920" y="3749040"/>
            <a:ext cx="1133856" cy="566928"/>
          </a:xfrm>
          <a:prstGeom prst="line">
            <a:avLst/>
          </a:prstGeom>
          <a:ln w="3048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10928" y="3904488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Ae₁=(2,1)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8503920" y="3749040"/>
            <a:ext cx="566928" cy="566928"/>
          </a:xfrm>
          <a:prstGeom prst="line">
            <a:avLst/>
          </a:prstGeom>
          <a:ln w="3048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0" y="3319272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Ae₂=(1,1)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68756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平行四边形面积 = |det A| = |2·1 − 1·1| = 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" y="1572768"/>
            <a:ext cx="5074920" cy="1188720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75488" y="1572768"/>
            <a:ext cx="57150" cy="1188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603504" y="202082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1572768"/>
            <a:ext cx="441655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为什么？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面积是把每个小方格相加得到的；线性变换把每个小方格都同样地拉伸，总面积的倍率就等于单位方格像的倍率。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70448" y="1572768"/>
            <a:ext cx="5852160" cy="1188720"/>
          </a:xfrm>
          <a:prstGeom prst="roundRect">
            <a:avLst>
              <a:gd name="adj" fmla="val 6000"/>
            </a:avLst>
          </a:prstGeom>
          <a:solidFill>
            <a:srgbClr val="FDEEDE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870448" y="1572768"/>
            <a:ext cx="57150" cy="11887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998464" y="202082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1572768"/>
            <a:ext cx="519379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对有向面积的完整解读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
|det A| = 面积缩放比；　det A &lt; 0 ⇒ 图形被「翻面」，定向反转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核心直观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几何意义 II：符号与「压扁」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det 的正负 = 定向；det = 0 = 图形退化（面积/体积为 0）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2761488" cy="3877056"/>
          </a:xfrm>
          <a:prstGeom prst="roundRect">
            <a:avLst>
              <a:gd name="adj" fmla="val 4500"/>
            </a:avLst>
          </a:prstGeom>
          <a:solidFill>
            <a:srgbClr val="E4F1E4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387705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66420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A = </a:t>
            </a: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2,0],[0,2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61288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08760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03704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51176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61288" y="2432304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61288" y="2779776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61288" y="3474720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" y="3822192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9848" y="3127248"/>
            <a:ext cx="168249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56232" y="2231136"/>
            <a:ext cx="0" cy="168249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96896" y="3163824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210312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22" name="Freeform 21"/>
          <p:cNvSpPr/>
          <p:nvPr/>
        </p:nvSpPr>
        <p:spPr>
          <a:xfrm>
            <a:off x="1856232" y="2710281"/>
            <a:ext cx="416966" cy="416967"/>
          </a:xfrm>
          <a:custGeom>
            <a:avLst/>
            <a:gdLst/>
            <a:ahLst/>
            <a:cxnLst/>
            <a:rect l="l" t="t" r="r" b="b"/>
            <a:pathLst>
              <a:path w="416966" h="416967">
                <a:moveTo>
                  <a:pt x="0" y="416967"/>
                </a:moveTo>
                <a:lnTo>
                  <a:pt x="416966" y="416967"/>
                </a:lnTo>
                <a:lnTo>
                  <a:pt x="416966" y="0"/>
                </a:lnTo>
                <a:lnTo>
                  <a:pt x="0" y="0"/>
                </a:lnTo>
                <a:close/>
              </a:path>
            </a:pathLst>
          </a:custGeom>
          <a:solidFill>
            <a:srgbClr val="E4F1E4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856232" y="3127248"/>
            <a:ext cx="416966" cy="0"/>
          </a:xfrm>
          <a:prstGeom prst="line">
            <a:avLst/>
          </a:prstGeom>
          <a:ln w="2540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56232" y="2710281"/>
            <a:ext cx="0" cy="416967"/>
          </a:xfrm>
          <a:prstGeom prst="line">
            <a:avLst/>
          </a:prstGeom>
          <a:ln w="2540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" y="4261104"/>
            <a:ext cx="1152144" cy="347472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det =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5376" y="4224528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面积放大 4 倍，
定向不变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1572768"/>
            <a:ext cx="2761488" cy="3877056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374136" y="1572768"/>
            <a:ext cx="57150" cy="38770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20440" y="166420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A = </a:t>
            </a: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0,-1],[1,0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59936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07408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02352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49824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59936" y="2432304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59936" y="2779776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59936" y="3474720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059936" y="3822192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968496" y="3127248"/>
            <a:ext cx="168249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754880" y="2231136"/>
            <a:ext cx="0" cy="168249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95544" y="3163824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210312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42" name="Freeform 41"/>
          <p:cNvSpPr/>
          <p:nvPr/>
        </p:nvSpPr>
        <p:spPr>
          <a:xfrm>
            <a:off x="4546396" y="2918764"/>
            <a:ext cx="208484" cy="208484"/>
          </a:xfrm>
          <a:custGeom>
            <a:avLst/>
            <a:gdLst/>
            <a:ahLst/>
            <a:cxnLst/>
            <a:rect l="l" t="t" r="r" b="b"/>
            <a:pathLst>
              <a:path w="208484" h="208484">
                <a:moveTo>
                  <a:pt x="208484" y="208484"/>
                </a:moveTo>
                <a:lnTo>
                  <a:pt x="208484" y="0"/>
                </a:lnTo>
                <a:lnTo>
                  <a:pt x="0" y="0"/>
                </a:lnTo>
                <a:lnTo>
                  <a:pt x="0" y="208484"/>
                </a:lnTo>
                <a:close/>
              </a:path>
            </a:pathLst>
          </a:custGeom>
          <a:solidFill>
            <a:srgbClr val="DCEAF7"/>
          </a:solidFill>
          <a:ln w="2159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754880" y="2918764"/>
            <a:ext cx="0" cy="208484"/>
          </a:xfrm>
          <a:prstGeom prst="line">
            <a:avLst/>
          </a:prstGeom>
          <a:ln w="2540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546396" y="3127248"/>
            <a:ext cx="208484" cy="0"/>
          </a:xfrm>
          <a:prstGeom prst="line">
            <a:avLst/>
          </a:prstGeom>
          <a:ln w="2540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520440" y="4261104"/>
            <a:ext cx="1152144" cy="347472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det =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4224528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旋转 90°，
面积不变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72784" y="1572768"/>
            <a:ext cx="2761488" cy="3877056"/>
          </a:xfrm>
          <a:prstGeom prst="roundRect">
            <a:avLst>
              <a:gd name="adj" fmla="val 4500"/>
            </a:avLst>
          </a:prstGeom>
          <a:solidFill>
            <a:srgbClr val="EEE7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272784" y="1572768"/>
            <a:ext cx="57150" cy="3877056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19088" y="166420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A = </a:t>
            </a: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1,0],[0,-1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958584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06056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001000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348472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58584" y="2432304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58584" y="2779776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58584" y="3474720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58584" y="3822192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67144" y="3127248"/>
            <a:ext cx="168249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653528" y="2231136"/>
            <a:ext cx="0" cy="168249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394192" y="3163824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9248" y="210312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62" name="Freeform 61"/>
          <p:cNvSpPr/>
          <p:nvPr/>
        </p:nvSpPr>
        <p:spPr>
          <a:xfrm>
            <a:off x="7653528" y="3127248"/>
            <a:ext cx="208483" cy="208483"/>
          </a:xfrm>
          <a:custGeom>
            <a:avLst/>
            <a:gdLst/>
            <a:ahLst/>
            <a:cxnLst/>
            <a:rect l="l" t="t" r="r" b="b"/>
            <a:pathLst>
              <a:path w="208483" h="208483">
                <a:moveTo>
                  <a:pt x="0" y="0"/>
                </a:moveTo>
                <a:lnTo>
                  <a:pt x="208483" y="0"/>
                </a:lnTo>
                <a:lnTo>
                  <a:pt x="208483" y="208483"/>
                </a:lnTo>
                <a:lnTo>
                  <a:pt x="0" y="208483"/>
                </a:lnTo>
                <a:close/>
              </a:path>
            </a:pathLst>
          </a:custGeom>
          <a:solidFill>
            <a:srgbClr val="EEE7F7"/>
          </a:solidFill>
          <a:ln w="2159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7653528" y="3127248"/>
            <a:ext cx="208483" cy="0"/>
          </a:xfrm>
          <a:prstGeom prst="line">
            <a:avLst/>
          </a:prstGeom>
          <a:ln w="2540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53528" y="3127248"/>
            <a:ext cx="0" cy="208483"/>
          </a:xfrm>
          <a:prstGeom prst="line">
            <a:avLst/>
          </a:prstGeom>
          <a:ln w="2540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419088" y="4261104"/>
            <a:ext cx="1152144" cy="347472"/>
          </a:xfrm>
          <a:prstGeom prst="roundRect">
            <a:avLst>
              <a:gd name="adj" fmla="val 22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det = −1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2672" y="4224528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镜像翻转，
定向反转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71432" y="1572768"/>
            <a:ext cx="2761488" cy="3877056"/>
          </a:xfrm>
          <a:prstGeom prst="roundRect">
            <a:avLst>
              <a:gd name="adj" fmla="val 4500"/>
            </a:avLst>
          </a:prstGeom>
          <a:solidFill>
            <a:srgbClr val="FAE4E1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9171432" y="1572768"/>
            <a:ext cx="57150" cy="38770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17736" y="166420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A = </a:t>
            </a: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1,2],[2,4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857232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204704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899648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247120" y="2432304"/>
            <a:ext cx="0" cy="138988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57232" y="2432304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57232" y="2779776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857232" y="3474720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857232" y="3822192"/>
            <a:ext cx="138988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765792" y="3127248"/>
            <a:ext cx="168249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552176" y="2231136"/>
            <a:ext cx="0" cy="168249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1292840" y="3163824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97896" y="2103120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9857232" y="1737360"/>
            <a:ext cx="1389888" cy="2779776"/>
          </a:xfrm>
          <a:prstGeom prst="line">
            <a:avLst/>
          </a:prstGeom>
          <a:ln w="1778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552176" y="2710281"/>
            <a:ext cx="208483" cy="416967"/>
          </a:xfrm>
          <a:prstGeom prst="line">
            <a:avLst/>
          </a:prstGeom>
          <a:ln w="2540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552176" y="2293315"/>
            <a:ext cx="416966" cy="833933"/>
          </a:xfrm>
          <a:prstGeom prst="line">
            <a:avLst/>
          </a:prstGeom>
          <a:ln w="2540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9317736" y="4261104"/>
            <a:ext cx="1152144" cy="347472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det = 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61320" y="4224528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两行成比例 ⇒
压扁成线段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5488" y="5596128"/>
            <a:ext cx="11240719" cy="621792"/>
          </a:xfrm>
          <a:prstGeom prst="roundRect">
            <a:avLst>
              <a:gd name="adj" fmla="val 6000"/>
            </a:avLst>
          </a:prstGeom>
          <a:solidFill>
            <a:srgbClr val="FAE4E1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475488" y="5596128"/>
            <a:ext cx="5715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ounded Rectangle 88"/>
          <p:cNvSpPr/>
          <p:nvPr/>
        </p:nvSpPr>
        <p:spPr>
          <a:xfrm>
            <a:off x="603504" y="576072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5840" y="5596128"/>
            <a:ext cx="10582351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关键结论</a:t>
            </a:r>
            <a:r>
              <a:rPr sz="14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　det A = 0 ⇔ 像被压到更低维（面→线、体→面）⇔ 列与行向量线性相关 ⇔ A 不可逆。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推广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几何意义 III：三阶 = 体积，n 阶 = n 维体积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三个行向量张成平行六面体，其体积就是 |det A|</a:t>
            </a:r>
          </a:p>
        </p:txBody>
      </p:sp>
      <p:sp>
        <p:nvSpPr>
          <p:cNvPr id="7" name="Freeform 6"/>
          <p:cNvSpPr/>
          <p:nvPr/>
        </p:nvSpPr>
        <p:spPr>
          <a:xfrm>
            <a:off x="3639952" y="4801697"/>
            <a:ext cx="1425824" cy="136063"/>
          </a:xfrm>
          <a:custGeom>
            <a:avLst/>
            <a:gdLst/>
            <a:ahLst/>
            <a:cxnLst/>
            <a:rect l="l" t="t" r="r" b="b"/>
            <a:pathLst>
              <a:path w="1425824" h="136063">
                <a:moveTo>
                  <a:pt x="291968" y="136063"/>
                </a:moveTo>
                <a:lnTo>
                  <a:pt x="1425824" y="136063"/>
                </a:lnTo>
                <a:lnTo>
                  <a:pt x="1133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639952" y="3667841"/>
            <a:ext cx="291968" cy="1269919"/>
          </a:xfrm>
          <a:custGeom>
            <a:avLst/>
            <a:gdLst/>
            <a:ahLst/>
            <a:cxnLst/>
            <a:rect l="l" t="t" r="r" b="b"/>
            <a:pathLst>
              <a:path w="291968" h="1269919">
                <a:moveTo>
                  <a:pt x="291968" y="1269919"/>
                </a:moveTo>
                <a:lnTo>
                  <a:pt x="291968" y="136063"/>
                </a:lnTo>
                <a:lnTo>
                  <a:pt x="0" y="0"/>
                </a:lnTo>
                <a:lnTo>
                  <a:pt x="0" y="1133856"/>
                </a:lnTo>
                <a:close/>
              </a:path>
            </a:pathLst>
          </a:custGeom>
          <a:solidFill>
            <a:srgbClr val="DE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931920" y="3803904"/>
            <a:ext cx="1133856" cy="1133856"/>
          </a:xfrm>
          <a:custGeom>
            <a:avLst/>
            <a:gdLst/>
            <a:ahLst/>
            <a:cxnLst/>
            <a:rect l="l" t="t" r="r" b="b"/>
            <a:pathLst>
              <a:path w="1133856" h="1133856">
                <a:moveTo>
                  <a:pt x="0" y="1133856"/>
                </a:moveTo>
                <a:lnTo>
                  <a:pt x="1133856" y="1133856"/>
                </a:lnTo>
                <a:lnTo>
                  <a:pt x="1133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931920" y="4937760"/>
            <a:ext cx="1133856" cy="0"/>
          </a:xfrm>
          <a:prstGeom prst="line">
            <a:avLst/>
          </a:prstGeom>
          <a:ln w="3556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931920" y="3803904"/>
            <a:ext cx="0" cy="1133856"/>
          </a:xfrm>
          <a:prstGeom prst="line">
            <a:avLst/>
          </a:prstGeom>
          <a:ln w="35560">
            <a:solidFill>
              <a:srgbClr val="118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3639952" y="4801697"/>
            <a:ext cx="291968" cy="136063"/>
          </a:xfrm>
          <a:prstGeom prst="line">
            <a:avLst/>
          </a:prstGeom>
          <a:ln w="3556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065776" y="3803904"/>
            <a:ext cx="0" cy="1133856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931920" y="3803904"/>
            <a:ext cx="1133856" cy="0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639952" y="3667841"/>
            <a:ext cx="291968" cy="136063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39952" y="3667841"/>
            <a:ext cx="0" cy="1133856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773808" y="3667841"/>
            <a:ext cx="0" cy="1133856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39952" y="3667841"/>
            <a:ext cx="1133856" cy="0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73808" y="4801697"/>
            <a:ext cx="291968" cy="136063"/>
          </a:xfrm>
          <a:prstGeom prst="line">
            <a:avLst/>
          </a:prstGeom>
          <a:ln w="12700">
            <a:solidFill>
              <a:srgbClr val="C9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39952" y="4801697"/>
            <a:ext cx="1133856" cy="0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3808" y="3667841"/>
            <a:ext cx="291968" cy="136063"/>
          </a:xfrm>
          <a:prstGeom prst="line">
            <a:avLst/>
          </a:prstGeom>
          <a:ln w="12700">
            <a:solidFill>
              <a:srgbClr val="C9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73808" y="3667841"/>
            <a:ext cx="0" cy="1133856"/>
          </a:xfrm>
          <a:prstGeom prst="line">
            <a:avLst/>
          </a:prstGeom>
          <a:ln w="152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81728" y="5120640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r₁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5536" y="37490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r₂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3568" y="4710257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A3D9A"/>
                </a:solidFill>
                <a:latin typeface="Cambria"/>
                <a:ea typeface="Cambria"/>
                <a:cs typeface="Cambria"/>
              </a:rPr>
              <a:t>r₃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57784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V = |det(r₁ᵀ, r₂ᵀ, r₃ᵀ)|　（平行六面体体积）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572768"/>
            <a:ext cx="5733288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989320" y="1572768"/>
            <a:ext cx="57150" cy="23317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72200" y="170078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n 阶：n 维体积缩放因子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975104"/>
            <a:ext cx="5422392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把单位正方体（体积 1）经 x ↦ Ax 映射后，得到的 n 维平行体体积 = 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|det A|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对任意区域 Ω：　vol(AΩ) = |det A| · vol(Ω)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det A &lt; 0 ⇒ 映射改变定向（左右手系互换）。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069080"/>
            <a:ext cx="5733288" cy="22494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989320" y="4069080"/>
            <a:ext cx="57150" cy="2249424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72200" y="419709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Cavalieri 原理（祖暅原理）的启示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71416"/>
            <a:ext cx="5422392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斜切一个平行体，体积不变。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这正是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消法变换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rᵢ + k·rⱼ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不改变行列式的几何原因，见 §2.2 性质 5。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而交换两行 = 把定向翻转 ⇒ 行列式变号；某行乘 k ⇒ 体积放 k 倍。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直觉 → 性质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用几何「猜出」行列式的全部性质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把行列式看成 n 维有向体积，五条性质几乎自动成立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09344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609344"/>
            <a:ext cx="57150" cy="7863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3886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体积是可加的（拼起来）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609344"/>
            <a:ext cx="3931920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|A| 关于每一行线性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1819656"/>
            <a:ext cx="2331720" cy="365760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分行可加性 + 倍法性质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468880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" y="2468880"/>
            <a:ext cx="57150" cy="786384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468880"/>
            <a:ext cx="3886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旋转 / 转置不改变体积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68880"/>
            <a:ext cx="3931920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|Aᵀ| = |A|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2679192"/>
            <a:ext cx="2331720" cy="365760"/>
          </a:xfrm>
          <a:prstGeom prst="roundRect">
            <a:avLst>
              <a:gd name="adj" fmla="val 22000"/>
            </a:avLst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行、列地位相同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328416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5488" y="3328416"/>
            <a:ext cx="57150" cy="7863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3886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某条棱伸长 k 倍 ⇒ 体积 k 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328416"/>
            <a:ext cx="3931920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|…, k·rᵢ, …| = k|A|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0808" y="3538728"/>
            <a:ext cx="2331720" cy="365760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倍法变换 / 提公因子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187952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75488" y="4187952"/>
            <a:ext cx="57150" cy="786384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4187952"/>
            <a:ext cx="3886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交换两条棱 ⇒ 定向反转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187952"/>
            <a:ext cx="3931920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换法变换 ⇒ |B| = −|A|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50808" y="4398264"/>
            <a:ext cx="2331720" cy="365760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两行相同 ⇒ 体积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047488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75488" y="5047488"/>
            <a:ext cx="57150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5047488"/>
            <a:ext cx="3886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斜切不改变体积（祖暅原理）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047488"/>
            <a:ext cx="3931920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消法变换 ⇒ |B| = |A|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0808" y="5257800"/>
            <a:ext cx="2331720" cy="365760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计算的主力工具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961888"/>
            <a:ext cx="11240719" cy="603504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" y="5961888"/>
            <a:ext cx="57150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03504" y="611733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61888"/>
            <a:ext cx="105823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结论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：行列式是「唯一」满足 ① 对每一行线性 ② 两行相同时为 0 ③ |E| = 1 的函数。下一节把这三条展开为可操作的性质清单。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计算机专业必看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算一算：定义法到底有多慢？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n! 告诉我们对稍大的 n，定义法在物理上不可行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572768"/>
          <a:ext cx="4937760" cy="3008376"/>
        </p:xfrm>
        <a:graphic>
          <a:graphicData uri="http://schemas.openxmlformats.org/drawingml/2006/table">
            <a:tbl>
              <a:tblPr/>
              <a:tblGrid>
                <a:gridCol w="548640"/>
                <a:gridCol w="1346661"/>
                <a:gridCol w="1047403"/>
                <a:gridCol w="1995056"/>
              </a:tblGrid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n!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约等于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Cambria"/>
                          <a:ea typeface="Cambria"/>
                          <a:cs typeface="Cambria"/>
                        </a:rPr>
                        <a:t>机器估算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瞬间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40320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4×10⁴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瞬间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3628800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3.6×10⁶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秒级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1.31×10¹²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1.3 万亿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约 1 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2.43×10¹⁸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243 亿亿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约 77 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976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2.65×10³²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宇宙年龄的 10¹⁵ 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75488" y="1572768"/>
            <a:ext cx="0" cy="300837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05856" y="1572768"/>
            <a:ext cx="0" cy="300837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5080" y="1499616"/>
            <a:ext cx="5349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log₁₀(n!) 的增长：每高 1 个单位 = 10 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4719401"/>
            <a:ext cx="914400" cy="62983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0840" y="4426793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10! ≈ 10^6.6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40410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67928" y="3583579"/>
            <a:ext cx="914400" cy="176566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3608" y="3290971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20! ≈ 10^18.4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540410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0696" y="2236530"/>
            <a:ext cx="914400" cy="311270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66376" y="1943922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30! ≈ 10^32.4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0696" y="540410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0" y="5367528"/>
            <a:ext cx="5029200" cy="0"/>
          </a:xfrm>
          <a:prstGeom prst="line">
            <a:avLst/>
          </a:prstGeom>
          <a:ln w="12700">
            <a:solidFill>
              <a:srgbClr val="C9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5488" y="4864608"/>
            <a:ext cx="5230368" cy="1444752"/>
          </a:xfrm>
          <a:prstGeom prst="roundRect">
            <a:avLst>
              <a:gd name="adj" fmla="val 6000"/>
            </a:avLst>
          </a:prstGeom>
          <a:solidFill>
            <a:srgbClr val="FDEEDE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75488" y="4864608"/>
            <a:ext cx="57150" cy="1444752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03504" y="544068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64608"/>
            <a:ext cx="4572000" cy="1444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对比</a:t>
            </a: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
把 n 阶矩阵化为三角形只需约 2n³/3 次乘除法。
n = 30 时 2n³/3 ≈ 18000 次，
而 30! ≈ 2.65×10³² 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64608"/>
            <a:ext cx="5440680" cy="1444752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63640" y="4864608"/>
            <a:ext cx="57150" cy="14447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391656" y="544068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864608"/>
            <a:ext cx="4782312" cy="1444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这就是为什么</a:t>
            </a: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
· 定义只用于理论推导与特殊行列式；
· 实际计算一律使用「性质 + 展开定理」；
· 数值计算中甚至不用行列式判断奇异性
　（改看 LU 分解的选主元过程）。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§2.1 小结：定义 + 直觉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一张图记住这一节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2514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代数定义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5221224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|A| 是 n! 个「每行每列各取一个元素」的乘积项的代数和，符号由列下标排列的逆序数决定。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|A| = Σ (−1)^τ(j₁…jₙ) a₁ⱼ₁a₂ⱼ₂…aₙⱼₙ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· 2 阶：ad − bc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· 3 阶：Sarrus 六项（正负各三）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· 三角形 / 对角：主对角线之积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532120" cy="251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72768"/>
            <a:ext cx="57150" cy="251460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几何意义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75104"/>
            <a:ext cx="5221224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|det A| = 线性变换的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体积缩放因子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2 阶 → 有向面积；3 阶 → 有向体积；n 阶 → n 维有向体积。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det A &lt; 0：翻转定向；det A = 0：降维退化（不可逆）。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五条性质都能由「体积」直接读出 → 下一节。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4224528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4224528"/>
            <a:ext cx="57150" cy="7863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03504" y="447141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24528"/>
            <a:ext cx="1058235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一句话总结</a:t>
            </a: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：行列式 = 用行列式的「数」刻画矩阵的「形」——它同时是解方程组的开关、几何体积的缩放比、以及后面所有理论的枢纽。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5138928"/>
            <a:ext cx="11240719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75488" y="5138928"/>
            <a:ext cx="57150" cy="12070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526694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检查点：你能回答这三个问题吗？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41264"/>
            <a:ext cx="1092982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τ(3 5 1 4 2) = ?　② 为什么 4 阶不能用对角线法则？　③ det A = 0 的几何含义是什么？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方阵行列式的性质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行列式的性质：全景图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用初等变换的眼光重新理解行列式：变什么、值怎么变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27632"/>
            <a:ext cx="2231136" cy="3246120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57150" cy="3246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① 线性性质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28600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分行（列）可加性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8950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某行乘 k ⇒ |A| 乘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493008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公因子可提出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160520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对应「体积可加、可伸缩」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627632"/>
            <a:ext cx="2231136" cy="3246120"/>
          </a:xfrm>
          <a:prstGeom prst="roundRect">
            <a:avLst>
              <a:gd name="adj" fmla="val 4500"/>
            </a:avLst>
          </a:prstGeom>
          <a:solidFill>
            <a:srgbClr val="DEF2F3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834640" y="1627632"/>
            <a:ext cx="57150" cy="324612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99232" y="1737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② 转置不变性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28600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|Aᵀ| = |A|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88950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行、列完全对等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93008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所有行性质对列同样成立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4160520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对应「旋转不改变体积」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93792" y="1627632"/>
            <a:ext cx="2231136" cy="3246120"/>
          </a:xfrm>
          <a:prstGeom prst="roundRect">
            <a:avLst>
              <a:gd name="adj" fmla="val 4500"/>
            </a:avLst>
          </a:prstGeom>
          <a:solidFill>
            <a:srgbClr val="FDEED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93792" y="1627632"/>
            <a:ext cx="57150" cy="32461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58384" y="1737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③ 换法 / 倍法 / 消法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28600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换行 ⇒ 变号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88950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某行乘 k ⇒ k 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493008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消法 ⇒ 不变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60520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对应「定向 / 伸缩 / 斜切」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52944" y="1627632"/>
            <a:ext cx="2231136" cy="3246120"/>
          </a:xfrm>
          <a:prstGeom prst="roundRect">
            <a:avLst>
              <a:gd name="adj" fmla="val 4500"/>
            </a:avLst>
          </a:prstGeom>
          <a:solidFill>
            <a:srgbClr val="FAE4E1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52944" y="1627632"/>
            <a:ext cx="57150" cy="3246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17536" y="1737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④ 何时为零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228600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两行相同 ⇒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288950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两行成比例 ⇒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3493008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某行全为 0 ⇒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4160520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对应「体积塌缩」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12096" y="1627632"/>
            <a:ext cx="2231136" cy="3246120"/>
          </a:xfrm>
          <a:prstGeom prst="roundRect">
            <a:avLst>
              <a:gd name="adj" fmla="val 4500"/>
            </a:avLst>
          </a:prstGeom>
          <a:solidFill>
            <a:srgbClr val="EEE7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912096" y="1627632"/>
            <a:ext cx="57150" cy="32461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76688" y="1737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⑤ 运算规律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228600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|kA| = kⁿ|A|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13264" y="288950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|AB| = |A||B|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3264" y="3493008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|Aᵐ| = |A|ᵐ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3264" y="4160520"/>
            <a:ext cx="1920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行列式与矩阵运算的桥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5047488"/>
            <a:ext cx="11240719" cy="1298448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75488" y="5047488"/>
            <a:ext cx="57150" cy="1298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03504" y="5550408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047488"/>
            <a:ext cx="10582351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本节的中心思想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
① 行列式的性质 = 初等变换对行列式值的影响；② 由此得到计算行列式的标准流程：
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用消法变换化为三角形 → 主对角线相乘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性质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性质 1：分行（列）可加性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行列式对「某一行」是线性的：加法可以拆开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737360"/>
          <a:ext cx="2953512" cy="1463040"/>
        </p:xfrm>
        <a:graphic>
          <a:graphicData uri="http://schemas.openxmlformats.org/drawingml/2006/table">
            <a:tbl>
              <a:tblPr/>
              <a:tblGrid>
                <a:gridCol w="798246"/>
                <a:gridCol w="798246"/>
                <a:gridCol w="558772"/>
                <a:gridCol w="798248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b₁+c₁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b₂+c₂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bₙ+cₙ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66928" y="1737360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1737360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41648" y="1920240"/>
            <a:ext cx="128016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=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02352" y="1737360"/>
          <a:ext cx="2953512" cy="1463040"/>
        </p:xfrm>
        <a:graphic>
          <a:graphicData uri="http://schemas.openxmlformats.org/drawingml/2006/table">
            <a:tbl>
              <a:tblPr/>
              <a:tblGrid>
                <a:gridCol w="798246"/>
                <a:gridCol w="798246"/>
                <a:gridCol w="558772"/>
                <a:gridCol w="798248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4956048" y="1737360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02168" y="1737360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9328" y="1920240"/>
            <a:ext cx="5486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71432" y="1737360"/>
          <a:ext cx="2953512" cy="1463040"/>
        </p:xfrm>
        <a:graphic>
          <a:graphicData uri="http://schemas.openxmlformats.org/drawingml/2006/table">
            <a:tbl>
              <a:tblPr/>
              <a:tblGrid>
                <a:gridCol w="798246"/>
                <a:gridCol w="798246"/>
                <a:gridCol w="558772"/>
                <a:gridCol w="798248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c₁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c₂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cₙ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9025128" y="1737360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271248" y="1737360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5488" y="3566160"/>
            <a:ext cx="5532120" cy="2057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75488" y="3566160"/>
            <a:ext cx="57150" cy="205740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69417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证明思路（用定义展开）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68496"/>
            <a:ext cx="522122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按定义，|A| 的第 i 行为 bⱼ + cⱼ，于是每一项 a₁ⱼ₁…(bⱼᵢ + cⱼᵢ)…aₙⱼₙ 都可以拆成两项之和。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再把 n! 个项分别归并，恰好得到右边两个行列式。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几何解释：两个「同底」的平行体可以沿一条棱的方向拼合。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566160"/>
            <a:ext cx="5532120" cy="2057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199632" y="3566160"/>
            <a:ext cx="57150" cy="205740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82512" y="369417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由性质 1 立即得到的两条推论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968496"/>
            <a:ext cx="522122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分列可加性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：与性质 2（|Aᵀ| = |A|）结合，列也有同样的性质。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若两行成比例，则行列式为 0（推论 2.3）。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　　（因为可提出公因子后两行相同，再用推论 2.2）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742432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FAE4E1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75488" y="5742432"/>
            <a:ext cx="5715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3504" y="5879592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42432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注意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：可加性是「一次只动一行」，不要误写成 |A + B| = |A| + |B|！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性质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性质 2：|Aᵀ| = |A| —— 行与列的地位对等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把矩阵沿主对角线「翻折」，行列式的值不变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2728" y="20116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5272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a11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9928" y="20116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0992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7128" y="20116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16712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20116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62432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2728" y="24688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5272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09928" y="24688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70992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24688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6712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8" y="24688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2432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52728" y="29260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5272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09928" y="29260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70992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29260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6712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4328" y="29260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2432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52728" y="33832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5272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a41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9928" y="33832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0992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7128" y="33832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16712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a43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24328" y="33832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62432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7864" y="3913632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33856" y="1920240"/>
            <a:ext cx="0" cy="1828800"/>
          </a:xfrm>
          <a:prstGeom prst="line">
            <a:avLst/>
          </a:prstGeom>
          <a:ln w="2286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00400" y="1920240"/>
            <a:ext cx="0" cy="1828800"/>
          </a:xfrm>
          <a:prstGeom prst="line">
            <a:avLst/>
          </a:prstGeom>
          <a:ln w="2286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264408" y="3017520"/>
            <a:ext cx="914400" cy="0"/>
          </a:xfrm>
          <a:prstGeom prst="line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81528" y="2542032"/>
            <a:ext cx="1280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转置
（沿主对角线翻折）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07408" y="20116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074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64608" y="20116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8646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1808" y="20116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3218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a31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79008" y="20116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7790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a41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07408" y="24688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4074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64608" y="24688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8646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21808" y="24688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3218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a32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79008" y="24688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7790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a42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07408" y="29260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4074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a13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64608" y="29260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8646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21808" y="29260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218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a33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79008" y="2926080"/>
            <a:ext cx="457200" cy="457200"/>
          </a:xfrm>
          <a:prstGeom prst="rect">
            <a:avLst/>
          </a:prstGeom>
          <a:solidFill>
            <a:srgbClr val="DEF2F3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7790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a43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07408" y="33832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4074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64608" y="33832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48646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1808" y="3383280"/>
            <a:ext cx="457200" cy="457200"/>
          </a:xfrm>
          <a:prstGeom prst="rect">
            <a:avLst/>
          </a:prstGeom>
          <a:solidFill>
            <a:srgbClr val="DCEAF7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3218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a34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79008" y="3383280"/>
            <a:ext cx="457200" cy="457200"/>
          </a:xfrm>
          <a:prstGeom prst="rect">
            <a:avLst/>
          </a:prstGeom>
          <a:solidFill>
            <a:srgbClr val="FDEEDE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57790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52544" y="3913632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Aᵀ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288536" y="1920240"/>
            <a:ext cx="0" cy="1828800"/>
          </a:xfrm>
          <a:prstGeom prst="line">
            <a:avLst/>
          </a:prstGeom>
          <a:ln w="2286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355080" y="1920240"/>
            <a:ext cx="0" cy="1828800"/>
          </a:xfrm>
          <a:prstGeom prst="line">
            <a:avLst/>
          </a:prstGeom>
          <a:ln w="2286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33856" y="4206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颜色相同 ⇒ 处于对称位置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证明要点：|Aᵀ| 的每项重排因子次序后即为 |A| 的对应项。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99632" y="1627632"/>
            <a:ext cx="5532120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6199632" y="1627632"/>
            <a:ext cx="57150" cy="239572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382512" y="175564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这条性质为什么极其有用？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82512" y="2029968"/>
            <a:ext cx="522122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算一次证明，得两套性质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：只要对「行」证明过的性质，对「列」自动成立，无需重新证明。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实际计算中，可以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同时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使用行变换和列变换来制造零，比只用行变换快得多。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 法则中 Dⱼ 恰是「|A| 按列展开」的产物，也依赖行、列对等。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99632" y="4133087"/>
            <a:ext cx="553212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6199632" y="4133087"/>
            <a:ext cx="57150" cy="1481328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6382512" y="4261103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对称矩阵 / 反称矩阵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82512" y="4535423"/>
            <a:ext cx="522122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Aᵀ = A ⇒ 对称矩阵；Aᵀ = −A ⇒ 反称矩阵。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奇数阶反称矩阵的行列式必为 0（|A| = |Aᵀ| = |−A| = (−1)ⁿ|A| = −|A|）。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5488" y="512064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DEF2F3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475488" y="5120640"/>
            <a:ext cx="57150" cy="56692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603504" y="525780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" y="5120640"/>
            <a:ext cx="4873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一句话：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行列式里行和列没有区别。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性质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性质 3：某行乘 k，行列式乘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这是「倍法变换」对行列式的影响，也是 |kA| = kⁿ|A| 的来源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4672" y="1700784"/>
          <a:ext cx="2770632" cy="1463040"/>
        </p:xfrm>
        <a:graphic>
          <a:graphicData uri="http://schemas.openxmlformats.org/drawingml/2006/table">
            <a:tbl>
              <a:tblPr/>
              <a:tblGrid>
                <a:gridCol w="748819"/>
                <a:gridCol w="748819"/>
                <a:gridCol w="524173"/>
                <a:gridCol w="748821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k·a₂₁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k·a₂₂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k·a₂ₙ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58368" y="1700784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21608" y="1700784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58768" y="1883664"/>
            <a:ext cx="64008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7" y="1828800"/>
            <a:ext cx="100584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0952" y="1700784"/>
          <a:ext cx="2770632" cy="1463040"/>
        </p:xfrm>
        <a:graphic>
          <a:graphicData uri="http://schemas.openxmlformats.org/drawingml/2006/table">
            <a:tbl>
              <a:tblPr/>
              <a:tblGrid>
                <a:gridCol w="748819"/>
                <a:gridCol w="748819"/>
                <a:gridCol w="524173"/>
                <a:gridCol w="748821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5184648" y="1700784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47888" y="1700784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5488" y="3291840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3291840"/>
            <a:ext cx="57150" cy="23317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41985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推论 2.1：某行（列）的公因子可以提到行列式外面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94176"/>
            <a:ext cx="5221224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这是性质 3 的「反向用法」，计算时最常用：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看到某一行有公因子 6，就把它提出来，行列式变为原来的 1/6。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例（例 2.2）：各行之和都是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把 2,3,4 行都加到第 1 行 ⇒ 第 1 行全为 6 ⇒ 提出 6。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700784"/>
            <a:ext cx="5532120" cy="39227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99632" y="1700784"/>
            <a:ext cx="57150" cy="39227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82512" y="1828800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与 |kA| = kⁿ|A| 的区别（高频错误点）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5120640" cy="1371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|kA| = kⁿ·|A|　（n 为阶数，每一行都乘了 k）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≠ k·|A|　（这是只乘一行的结果）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703320"/>
            <a:ext cx="5120640" cy="1737360"/>
          </a:xfrm>
          <a:prstGeom prst="rect">
            <a:avLst/>
          </a:prstGeom>
          <a:solidFill>
            <a:srgbClr val="F2F3F5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65392" y="3822191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数值验证（n = 2）：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 = </a:t>
            </a:r>
            <a:r>
              <a:rPr sz="13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1,2],[3,4</a:t>
            </a: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，|A| = 4 − 6 = −2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2A = </a:t>
            </a:r>
            <a:r>
              <a:rPr sz="13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2,4],[6,8</a:t>
            </a: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，|2A| = 16 − 24 = −8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−8 = 2² × (−2)　✓（而不是 2 × (−2) = −4）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742432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75488" y="5742432"/>
            <a:ext cx="57150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03504" y="5879592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42432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记忆法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：n 阶方阵有 n 行，每行都放大 k 倍 ⇒ 体积放大 kⁿ 倍（n 维体积是 k 的 n 次方）。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性质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性质 4：交换两行 ⇒ 行列式变号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一次换法变换 = 一次对换 = 定向翻转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572768"/>
            <a:ext cx="288036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12648" y="1572768"/>
            <a:ext cx="57150" cy="201168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1700784"/>
            <a:ext cx="2624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交换前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99032" y="2084831"/>
          <a:ext cx="1307592" cy="768096"/>
        </p:xfrm>
        <a:graphic>
          <a:graphicData uri="http://schemas.openxmlformats.org/drawingml/2006/table">
            <a:tbl>
              <a:tblPr/>
              <a:tblGrid>
                <a:gridCol w="653796"/>
                <a:gridCol w="653796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1252728" y="2084831"/>
            <a:ext cx="0" cy="76809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52928" y="2084831"/>
            <a:ext cx="0" cy="76809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4088" y="2907792"/>
            <a:ext cx="26974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det = a₁b₂ − a₂b₁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48456" y="2487168"/>
            <a:ext cx="548640" cy="0"/>
          </a:xfrm>
          <a:prstGeom prst="line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84448" y="1993392"/>
            <a:ext cx="822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r₁ ↔ r₂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7" y="1572768"/>
            <a:ext cx="288036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61687" y="1572768"/>
            <a:ext cx="5715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44567" y="1700784"/>
            <a:ext cx="2624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交换后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148071" y="2084831"/>
          <a:ext cx="1307592" cy="768096"/>
        </p:xfrm>
        <a:graphic>
          <a:graphicData uri="http://schemas.openxmlformats.org/drawingml/2006/table">
            <a:tbl>
              <a:tblPr/>
              <a:tblGrid>
                <a:gridCol w="653796"/>
                <a:gridCol w="653796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0" name="Connector 19"/>
          <p:cNvCxnSpPr/>
          <p:nvPr/>
        </p:nvCxnSpPr>
        <p:spPr>
          <a:xfrm>
            <a:off x="5001767" y="2084831"/>
            <a:ext cx="0" cy="76809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01967" y="2084831"/>
            <a:ext cx="0" cy="76809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53127" y="2907792"/>
            <a:ext cx="26974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det = a₂b₁ − a₁b₂ = −(a₁b₂ − a₂b₁)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572768"/>
            <a:ext cx="402336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726679" y="1572768"/>
            <a:ext cx="57150" cy="201168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09559" y="1700784"/>
            <a:ext cx="3767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两条重要推论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121408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推论 2.2</a:t>
            </a: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：两行（列）相同 ⇒ |A|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交换这两行矩阵没变，但 |A| 应变号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⇒ |A| = −|A| ⇒ |A| = 0。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推论 2.3</a:t>
            </a: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：两行（列）成比例 ⇒ |A|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先提出比例系数，就化成两行相同的情形。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712463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几何上：把两条棱的顺序换一下，平行体的「定向」翻转。</a:t>
            </a:r>
          </a:p>
        </p:txBody>
      </p:sp>
      <p:sp>
        <p:nvSpPr>
          <p:cNvPr id="28" name="Freeform 27"/>
          <p:cNvSpPr/>
          <p:nvPr/>
        </p:nvSpPr>
        <p:spPr>
          <a:xfrm>
            <a:off x="2377440" y="4910328"/>
            <a:ext cx="1316736" cy="438912"/>
          </a:xfrm>
          <a:custGeom>
            <a:avLst/>
            <a:gdLst/>
            <a:ahLst/>
            <a:cxnLst/>
            <a:rect l="l" t="t" r="r" b="b"/>
            <a:pathLst>
              <a:path w="1316736" h="438912">
                <a:moveTo>
                  <a:pt x="0" y="438912"/>
                </a:moveTo>
                <a:lnTo>
                  <a:pt x="877824" y="438912"/>
                </a:lnTo>
                <a:lnTo>
                  <a:pt x="1316736" y="0"/>
                </a:lnTo>
                <a:lnTo>
                  <a:pt x="438912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377440" y="5349240"/>
            <a:ext cx="877824" cy="0"/>
          </a:xfrm>
          <a:prstGeom prst="line">
            <a:avLst/>
          </a:prstGeom>
          <a:ln w="2794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71216" y="5413248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r₁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377440" y="4910328"/>
            <a:ext cx="438912" cy="438912"/>
          </a:xfrm>
          <a:prstGeom prst="line">
            <a:avLst/>
          </a:prstGeom>
          <a:ln w="2794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670048" y="471830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r₂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833872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r₁ → r₂ 逆时针，det &gt; 0</a:t>
            </a:r>
          </a:p>
        </p:txBody>
      </p:sp>
      <p:sp>
        <p:nvSpPr>
          <p:cNvPr id="34" name="Freeform 33"/>
          <p:cNvSpPr/>
          <p:nvPr/>
        </p:nvSpPr>
        <p:spPr>
          <a:xfrm>
            <a:off x="7635240" y="4910328"/>
            <a:ext cx="1316736" cy="438912"/>
          </a:xfrm>
          <a:custGeom>
            <a:avLst/>
            <a:gdLst/>
            <a:ahLst/>
            <a:cxnLst/>
            <a:rect l="l" t="t" r="r" b="b"/>
            <a:pathLst>
              <a:path w="1316736" h="438912">
                <a:moveTo>
                  <a:pt x="0" y="438912"/>
                </a:moveTo>
                <a:lnTo>
                  <a:pt x="438912" y="0"/>
                </a:lnTo>
                <a:lnTo>
                  <a:pt x="1316736" y="0"/>
                </a:lnTo>
                <a:lnTo>
                  <a:pt x="877824" y="438912"/>
                </a:lnTo>
                <a:close/>
              </a:path>
            </a:pathLst>
          </a:custGeom>
          <a:solidFill>
            <a:srgbClr val="FAE4E1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635240" y="4910328"/>
            <a:ext cx="438912" cy="438912"/>
          </a:xfrm>
          <a:prstGeom prst="line">
            <a:avLst/>
          </a:prstGeom>
          <a:ln w="2794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27848" y="471830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r₂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35240" y="5349240"/>
            <a:ext cx="877824" cy="0"/>
          </a:xfrm>
          <a:prstGeom prst="line">
            <a:avLst/>
          </a:prstGeom>
          <a:ln w="2794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29016" y="5413248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r₁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833872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r₁ → r₂ 顺时针，det &lt; 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40690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FAE4E1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349240" y="4069080"/>
            <a:ext cx="57150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5477256" y="465429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592" y="4069080"/>
            <a:ext cx="57424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为什么要交换？</a:t>
            </a: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　为了让主元位置出现非零元素，这是消元法与选主元（pivoting）的起点。
</a:t>
            </a:r>
            <a:r>
              <a:rPr sz="12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计算提醒</a:t>
            </a: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：换行一定要记一个「−」号！建议用 </a:t>
            </a:r>
            <a:r>
              <a:rPr sz="1250" b="0" i="0">
                <a:solidFill>
                  <a:srgbClr val="0E4C82"/>
                </a:solidFill>
                <a:latin typeface="Consolas"/>
                <a:ea typeface="Consolas"/>
                <a:cs typeface="Consolas"/>
              </a:rPr>
              <a:t>rᵢ ↔ rⱼ</a:t>
            </a: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并在等号旁写上 (−1)，避免最后符号出错。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性质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性质 5：消法变换不改变行列式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最重要的一条！它让「化三角形」成为可能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37360"/>
          <a:ext cx="2496312" cy="1316736"/>
        </p:xfrm>
        <a:graphic>
          <a:graphicData uri="http://schemas.openxmlformats.org/drawingml/2006/table">
            <a:tbl>
              <a:tblPr/>
              <a:tblGrid>
                <a:gridCol w="832104"/>
                <a:gridCol w="832104"/>
                <a:gridCol w="832104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12648" y="1737360"/>
            <a:ext cx="0" cy="131673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1568" y="1737360"/>
            <a:ext cx="0" cy="131673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11296" y="2395728"/>
            <a:ext cx="576072" cy="0"/>
          </a:xfrm>
          <a:prstGeom prst="line">
            <a:avLst/>
          </a:prstGeom>
          <a:ln w="2794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19856" y="1883664"/>
            <a:ext cx="822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r₂+k·r₃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25112" y="1737360"/>
          <a:ext cx="2724912" cy="1316736"/>
        </p:xfrm>
        <a:graphic>
          <a:graphicData uri="http://schemas.openxmlformats.org/drawingml/2006/table">
            <a:tbl>
              <a:tblPr/>
              <a:tblGrid>
                <a:gridCol w="908304"/>
                <a:gridCol w="908304"/>
                <a:gridCol w="908304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a₂₁+ka₃₁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a₂₂+ka₃₂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a₂₃+ka₃₃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a₃₃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4178808" y="1737360"/>
            <a:ext cx="0" cy="131673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96328" y="1737360"/>
            <a:ext cx="0" cy="131673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4128" y="3273552"/>
            <a:ext cx="23774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|A| = |B|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273552"/>
            <a:ext cx="23774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|A| = |B|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767328"/>
            <a:ext cx="5532120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5488" y="3767328"/>
            <a:ext cx="57150" cy="1920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89534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证明（两步）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69664"/>
            <a:ext cx="5221224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由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分行可加性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，把右边拆成两个行列式：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　|A| + |…, k·a₃ⱼ, …, a₃ⱼ, …|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第二个行列式的第 2、3 行成比例，由推论 2.3 得 0。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⇒ |B| = |A| + 0 = |A|。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37360"/>
            <a:ext cx="5532120" cy="39502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99632" y="1737360"/>
            <a:ext cx="57150" cy="395020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82512" y="186537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几何解释：祖暅原理（Cavalieri 原理）</a:t>
            </a:r>
          </a:p>
        </p:txBody>
      </p:sp>
      <p:sp>
        <p:nvSpPr>
          <p:cNvPr id="24" name="Freeform 23"/>
          <p:cNvSpPr/>
          <p:nvPr/>
        </p:nvSpPr>
        <p:spPr>
          <a:xfrm>
            <a:off x="7680960" y="4325112"/>
            <a:ext cx="1700784" cy="566928"/>
          </a:xfrm>
          <a:custGeom>
            <a:avLst/>
            <a:gdLst/>
            <a:ahLst/>
            <a:cxnLst/>
            <a:rect l="l" t="t" r="r" b="b"/>
            <a:pathLst>
              <a:path w="1700784" h="566928">
                <a:moveTo>
                  <a:pt x="0" y="566928"/>
                </a:moveTo>
                <a:lnTo>
                  <a:pt x="1133856" y="566928"/>
                </a:lnTo>
                <a:lnTo>
                  <a:pt x="1700784" y="0"/>
                </a:lnTo>
                <a:lnTo>
                  <a:pt x="566928" y="0"/>
                </a:lnTo>
                <a:close/>
              </a:path>
            </a:pathLst>
          </a:custGeom>
          <a:solidFill>
            <a:srgbClr val="F2F3F5"/>
          </a:solidFill>
          <a:ln w="190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680960" y="4325112"/>
            <a:ext cx="2381097" cy="566928"/>
          </a:xfrm>
          <a:custGeom>
            <a:avLst/>
            <a:gdLst/>
            <a:ahLst/>
            <a:cxnLst/>
            <a:rect l="l" t="t" r="r" b="b"/>
            <a:pathLst>
              <a:path w="2381097" h="566928">
                <a:moveTo>
                  <a:pt x="0" y="566928"/>
                </a:moveTo>
                <a:lnTo>
                  <a:pt x="1814169" y="566928"/>
                </a:lnTo>
                <a:lnTo>
                  <a:pt x="2381097" y="0"/>
                </a:lnTo>
                <a:lnTo>
                  <a:pt x="566928" y="0"/>
                </a:lnTo>
                <a:close/>
              </a:path>
            </a:pathLst>
          </a:custGeom>
          <a:solidFill>
            <a:srgbClr val="DEF2F3"/>
          </a:solidFill>
          <a:ln w="22860">
            <a:solidFill>
              <a:srgbClr val="1182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680960" y="4892040"/>
            <a:ext cx="1133856" cy="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80960" y="4325112"/>
            <a:ext cx="566928" cy="566928"/>
          </a:xfrm>
          <a:prstGeom prst="line">
            <a:avLst/>
          </a:prstGeom>
          <a:ln w="3048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21040" y="4279392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r₂ + k r₁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14816" y="4892040"/>
            <a:ext cx="680313" cy="0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0" y="393192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把一条棱沿另一条棱的方向「推斜」
底不变、高不变 ⇒ 面积不变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3774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这正是「斜切」：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底和高都不变，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所以体积（面积）不变。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797296"/>
            <a:ext cx="11240719" cy="548640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" y="5797296"/>
            <a:ext cx="5715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03504" y="5925312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97296"/>
            <a:ext cx="1058235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战略意义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：消法变换是唯一「不改变值」的工具 ⇒ 用它把行列式化为上三角形，再直接读主对角线乘积。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汇总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性质速查表 + 加法 / 乘法陷阱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左边是性质清单，右边是必须避开的三个错误等式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609344"/>
          <a:ext cx="5696712" cy="2523744"/>
        </p:xfrm>
        <a:graphic>
          <a:graphicData uri="http://schemas.openxmlformats.org/drawingml/2006/table">
            <a:tbl>
              <a:tblPr/>
              <a:tblGrid>
                <a:gridCol w="880400"/>
                <a:gridCol w="3728756"/>
                <a:gridCol w="1087556"/>
              </a:tblGrid>
              <a:tr h="420624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42B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记忆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分行（列）可加：某行拆成两行之和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体积可加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|Aᵀ| = |A|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行列对等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 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某行乘 k ⇒ 行列式乘 k（推论：提公因子）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体积伸缩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 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换法变换 ⇒ 变号（推论：两行相同/成比例 ⇒ 0）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定向反转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 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消法变换 ⇒ 不变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斜切不变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75488" y="1609344"/>
            <a:ext cx="0" cy="25237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64808" y="1609344"/>
            <a:ext cx="0" cy="25237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75120" y="1572768"/>
            <a:ext cx="5056632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675120" y="1572768"/>
            <a:ext cx="5715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0" y="170078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陷阱 1：|A + B| ≠ |A| + |B|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2139696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取 A = </a:t>
            </a:r>
            <a:r>
              <a:rPr sz="13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1,0],[0,0</a:t>
            </a: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，B = </a:t>
            </a:r>
            <a:r>
              <a:rPr sz="13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0,0],[0,1</a:t>
            </a: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|A| = 0，|B| = 0，但 |A+B| = |E| = 1 ≠ 0 + 0。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正确关系只有</a:t>
            </a:r>
            <a:r>
              <a:rPr sz="135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：|AB| = |A||B|，以及 |kA| = kⁿ|A|。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041648"/>
            <a:ext cx="5056632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75120" y="4041648"/>
            <a:ext cx="57150" cy="221284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0" y="416966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陷阱 2 / 3：行列式与矩阵运算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608576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✗ |A| + |B| 与 |A + B| 无一般关系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✗ |kA| = k|A|（n ≥ 2 时错误，应为 kⁿ|A|）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✗ AB ≠ BA，但恒有 |AB| = |BA|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✓ |Aᵐ| = |A|ᵐ，|A⁻¹| = |A|⁻¹（A 可逆时）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4526280"/>
            <a:ext cx="5989320" cy="17282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75488" y="4526280"/>
            <a:ext cx="57150" cy="17282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654296"/>
            <a:ext cx="5733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计算口诀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28616"/>
            <a:ext cx="5678424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「一行一列，一次一动；乘 k 提 k，换行变号，消法无痕」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每次做变换后，都在等号上方/下方标注系数，最后统一结算。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2.2 定理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定理 2.1：行列式与矩阵运算（乘法是关键）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|AB| = |A||B| 是行列式理论中最重要的「桥梁」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11240719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1417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1097280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设 A, B 为 n 阶方阵，k 为常数，m 为正整数，则：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ⅰ) |kA| = kⁿ|A|　　ⅱ) |AB| = |A|·|B|　　ⅲ) |Aᵐ| = |A|ᵐ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127248"/>
            <a:ext cx="5532120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3127248"/>
            <a:ext cx="57150" cy="2743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325526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证明思路（构造 2n 阶行列式）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29584"/>
            <a:ext cx="5221224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构造分块行列式 D = | A  O ; −E  B |。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用「第一类例 1.4」的分块结论：D = |A|·|B|。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用列变换把 D 化为 | A  AB ; −E  O |。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再交换行 n 次，得 D = (−1)ⁿ|−E|·|AB| = |AB|。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⇒ |AB| = |A||B|。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27248"/>
            <a:ext cx="5532120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99632" y="3127248"/>
            <a:ext cx="57150" cy="274320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82512" y="325526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由乘法性质推出的实用结论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9584"/>
            <a:ext cx="5221224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A 可逆 ⇒ |A⁻¹| = 1/|A|（由 |A||A⁻¹| = |E| = 1）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P 为初等矩阵 ⇒ |PA| = |P||A|，于是每次初等行变换对行列式的影响可以「记账」。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|AB| = |BA|，尽管一般 AB ≠ BA。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④ |A₁A₂…A_s| = |A₁||A₂|…|A_s|（可逆矩阵乘积仍可逆）。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6035040"/>
            <a:ext cx="11240719" cy="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75488" y="6035040"/>
            <a:ext cx="571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" y="6035040"/>
            <a:ext cx="10966399" cy="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计算范例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 2.1：标准流程 —— 化为上三角形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思路：用消法变换制造零，直到出现三角形，再读主对角线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874519"/>
          <a:ext cx="1810512" cy="1609344"/>
        </p:xfrm>
        <a:graphic>
          <a:graphicData uri="http://schemas.openxmlformats.org/drawingml/2006/table">
            <a:tbl>
              <a:tblPr/>
              <a:tblGrid>
                <a:gridCol w="452628"/>
                <a:gridCol w="452628"/>
                <a:gridCol w="452628"/>
                <a:gridCol w="45262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6692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7004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1572768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15727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r₁×(−1) 加到 r₂、r₄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27832" y="1874519"/>
          <a:ext cx="1810512" cy="1609344"/>
        </p:xfrm>
        <a:graphic>
          <a:graphicData uri="http://schemas.openxmlformats.org/drawingml/2006/table">
            <a:tbl>
              <a:tblPr/>
              <a:tblGrid>
                <a:gridCol w="452628"/>
                <a:gridCol w="452628"/>
                <a:gridCol w="452628"/>
                <a:gridCol w="45262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308152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8464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94376" y="2697480"/>
            <a:ext cx="274320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33288" y="15727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r₂×(−1) 加到 r₃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879592" y="1874519"/>
          <a:ext cx="1810512" cy="1609344"/>
        </p:xfrm>
        <a:graphic>
          <a:graphicData uri="http://schemas.openxmlformats.org/drawingml/2006/table">
            <a:tbl>
              <a:tblPr/>
              <a:tblGrid>
                <a:gridCol w="452628"/>
                <a:gridCol w="452628"/>
                <a:gridCol w="452628"/>
                <a:gridCol w="45262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8" name="Connector 17"/>
          <p:cNvCxnSpPr/>
          <p:nvPr/>
        </p:nvCxnSpPr>
        <p:spPr>
          <a:xfrm>
            <a:off x="573328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3640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46136" y="2697480"/>
            <a:ext cx="274320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85048" y="15727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交换 r₃ ↔ r₄（提一个 −1）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531352" y="1874519"/>
          <a:ext cx="1810512" cy="1609344"/>
        </p:xfrm>
        <a:graphic>
          <a:graphicData uri="http://schemas.openxmlformats.org/drawingml/2006/table">
            <a:tbl>
              <a:tblPr/>
              <a:tblGrid>
                <a:gridCol w="452628"/>
                <a:gridCol w="452628"/>
                <a:gridCol w="452628"/>
                <a:gridCol w="45262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</a:tr>
            </a:tbl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838504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488168" y="1874519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5488" y="3913632"/>
            <a:ext cx="11240719" cy="658368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75488" y="3913632"/>
            <a:ext cx="57150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03504" y="4096512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13632"/>
            <a:ext cx="1058235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最后一次交换产生一个 (−1) 因子 ⇒ D = (−1)·(1·1·3·7) = 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−21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700016"/>
            <a:ext cx="553212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75488" y="4700016"/>
            <a:ext cx="57150" cy="15544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4828032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为什么要「化三角形」？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02352"/>
            <a:ext cx="5221224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上（下）三角行列式只有一个非零乘积项，值 = 主对角线元素之积。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每次消法变换 O(n) 代价，总量 O(n³)，远优于 n!。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700016"/>
            <a:ext cx="553212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99632" y="4700016"/>
            <a:ext cx="57150" cy="155448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82512" y="4828032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操作规范（考试与工程都适用）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102352"/>
            <a:ext cx="5221224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先找「1」或「小整数」作主元，避免分数；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变换写在等号上方，换行统一记 (−1)；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目标：主对角线下方全为 0。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2.3 定义 3.1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余子式 Mᵢⱼ 与代数余子式 Aᵢⱼ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把元素 aᵢⱼ 所在的整行整列划掉，用剩下的低阶行列式来刻画它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" y="20116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a11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" y="20116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356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8" y="20116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928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0008" y="20116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3500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" y="24688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84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35608" y="24688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356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92808" y="24688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928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0008" y="24688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35000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" y="29260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84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5608" y="29260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4356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92808" y="29260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928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29260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35000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" y="33832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784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a41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35608" y="33832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4356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92808" y="33832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8928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a43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50008" y="3383280"/>
            <a:ext cx="4572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350008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a44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92808" y="2011680"/>
            <a:ext cx="457200" cy="1828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78408" y="2468880"/>
            <a:ext cx="1828800" cy="4572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78408" y="2468880"/>
            <a:ext cx="1371600" cy="457200"/>
          </a:xfrm>
          <a:prstGeom prst="rect">
            <a:avLst/>
          </a:prstGeom>
          <a:noFill/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892808" y="2011680"/>
            <a:ext cx="457200" cy="1828800"/>
          </a:xfrm>
          <a:prstGeom prst="rect">
            <a:avLst/>
          </a:prstGeom>
          <a:noFill/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929384" y="25054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a₂₃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3895344"/>
            <a:ext cx="2926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划去第 2 行、第 3 列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62456" y="2029968"/>
            <a:ext cx="0" cy="1810512"/>
          </a:xfrm>
          <a:prstGeom prst="line">
            <a:avLst/>
          </a:prstGeom>
          <a:ln w="2413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319272" y="2029968"/>
            <a:ext cx="0" cy="1810512"/>
          </a:xfrm>
          <a:prstGeom prst="line">
            <a:avLst/>
          </a:prstGeom>
          <a:ln w="2413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566160" y="1572768"/>
            <a:ext cx="41605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566160" y="1572768"/>
            <a:ext cx="57150" cy="23317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749040" y="1700784"/>
            <a:ext cx="3904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定义 3.1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1975104"/>
            <a:ext cx="3849624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在 n 阶行列式 |A| 中划去 aᵢⱼ 所在的第 i 行与第 j 列，剩下的 n−1 阶行列式称为 aᵢⱼ 的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余子式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Mᵢⱼ。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带上符号后：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Aᵢⱼ = (−1)^{i+j} Mᵢⱼ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称为 aᵢⱼ 的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代数余子式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8147304" y="1938528"/>
          <a:ext cx="1216152" cy="768096"/>
        </p:xfrm>
        <a:graphic>
          <a:graphicData uri="http://schemas.openxmlformats.org/drawingml/2006/table">
            <a:tbl>
              <a:tblPr/>
              <a:tblGrid>
                <a:gridCol w="608076"/>
                <a:gridCol w="608076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a₄₂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a₄₄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2" name="Connector 51"/>
          <p:cNvCxnSpPr/>
          <p:nvPr/>
        </p:nvCxnSpPr>
        <p:spPr>
          <a:xfrm>
            <a:off x="8001000" y="1938528"/>
            <a:ext cx="0" cy="76809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509760" y="1938528"/>
            <a:ext cx="0" cy="76809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601200" y="19202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M₂₃ =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A₂₃ = (−1)^{2+3}M₂₃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= −M₂₃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灰色 = 划去的
第 2 行、第 3 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3968496"/>
            <a:ext cx="4160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例：4 阶行列式中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M₁₁ 划去第 1 行第 1 列，A₁₁ = (+1)M₁₁ = M₁₁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M₂₃ 划去第 2 行第 3 列，A₂₃ = (−1)M₂₃ = −M₂₃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5488" y="4041648"/>
            <a:ext cx="553212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4041648"/>
            <a:ext cx="57150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8368" y="416966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余子式 vs 代数余子式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443984"/>
            <a:ext cx="5221224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余子式是一个 n−1 阶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行列式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；代数余子式 = 余子式前面加符号 (−1)^{i+j}。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只有代数余子式能用于展开定理 —— 符号绝对不能漏！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9632" y="4041648"/>
            <a:ext cx="553212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99632" y="4041648"/>
            <a:ext cx="57150" cy="14173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382512" y="416966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为什么要这么做？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2512" y="4443984"/>
            <a:ext cx="5221224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7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高阶行列式 → 低阶行列式，把 n 阶问题降成 n−1 阶问题，递归求解。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这正是下一节「展开定理」的核心，也是计算机上「按行展开 + 记忆化」的思想来源。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操作要点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符号棋盘：(−1)^{i+j} 的规律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从左上角开始，+ − + − … 交替排列，就像棋盘染色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874519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6152" y="1874519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16152" y="1874519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28216" y="1874519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28216" y="1874519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874519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40280" y="1874519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2344" y="1874519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52344" y="1874519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386583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" y="238658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6152" y="2386583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16152" y="238658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28216" y="2386583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28216" y="238658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2386583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40280" y="238658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52344" y="2386583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52344" y="238658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2898647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4088" y="2898647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6152" y="2898647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16152" y="2898647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28216" y="2898647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28216" y="2898647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2898647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240280" y="2898647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52344" y="2898647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752344" y="2898647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" y="3410711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4088" y="3410711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16152" y="3410711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16152" y="3410711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8216" y="3410711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728216" y="3410711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3410711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240280" y="3410711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52344" y="3410711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752344" y="3410711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" y="3922775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04088" y="3922775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16152" y="3922775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16152" y="3922775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28216" y="3922775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728216" y="3922775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40280" y="3922775"/>
            <a:ext cx="512064" cy="512064"/>
          </a:xfrm>
          <a:prstGeom prst="rect">
            <a:avLst/>
          </a:prstGeom>
          <a:solidFill>
            <a:srgbClr val="FAE4E1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240280" y="3922775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52344" y="3922775"/>
            <a:ext cx="512064" cy="512064"/>
          </a:xfrm>
          <a:prstGeom prst="rect">
            <a:avLst/>
          </a:prstGeom>
          <a:solidFill>
            <a:srgbClr val="E4F1E4"/>
          </a:solidFill>
          <a:ln w="1016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752344" y="3922775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76072" y="1874519"/>
            <a:ext cx="0" cy="2560320"/>
          </a:xfrm>
          <a:prstGeom prst="line">
            <a:avLst/>
          </a:prstGeom>
          <a:ln w="2413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392424" y="1874519"/>
            <a:ext cx="0" cy="2560320"/>
          </a:xfrm>
          <a:prstGeom prst="line">
            <a:avLst/>
          </a:prstGeom>
          <a:ln w="2413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29768" y="4526279"/>
            <a:ext cx="3017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(−1)^{i+j} 的符号表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" y="4754880"/>
            <a:ext cx="553212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475488" y="4754880"/>
            <a:ext cx="57150" cy="1554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58368" y="48828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三条使用规则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5157216"/>
            <a:ext cx="5221224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主对角线上的元素符号恒为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（i + j 为偶）。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相邻元素符号相反（行号或列号改变 1，符号翻转）。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只按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代数余子式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展开；如果按余子式写，要自己补符号。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35040" y="1572768"/>
            <a:ext cx="5696712" cy="47365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035040" y="1572768"/>
            <a:ext cx="57150" cy="47365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217920" y="1700784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展开定理（定理 3.1）：按任意一行（列）展开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208" y="2121408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按第 i 行展开：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36208" y="2432304"/>
            <a:ext cx="53949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|A| = aᵢ₁Aᵢ₁ + aᵢ₂Aᵢ₂ + … + aᵢₙAᵢₙ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8" y="2889504"/>
            <a:ext cx="5303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按第 j 列展开：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36208" y="3200400"/>
            <a:ext cx="53949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|A| = a₁ⱼA₁ⱼ + a₂ⱼA₂ⱼ + … + aₙⱼAₙⱼ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36208" y="3767328"/>
            <a:ext cx="5303520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236208" y="3913632"/>
            <a:ext cx="5303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结合符号棋盘理解</a:t>
            </a:r>
            <a:r>
              <a:rPr sz="13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把第 i 行的每个元素 aᵢⱼ 与其「棋盘符号」相乘，再乘上划掉该行该列后的低阶行列式，最后求和。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推论 3.1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：某行的元素与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另一行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的代数余子式乘积之和为 0：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aᵢ₁Aⱼ₁ + aᵢ₂Aⱼ₂ + … + aᵢₙAⱼₙ = 0　(i ≠ j)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（证明：这相当于把第 j 行换成第 i 行，得到两行相同的行列式 = 0。）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计算范例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 2.2：各行之和相等 ⇒ 全部加到第一行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这是「有规律的行列式」最常用的技巧之一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1920240"/>
          <a:ext cx="2039112" cy="1609344"/>
        </p:xfrm>
        <a:graphic>
          <a:graphicData uri="http://schemas.openxmlformats.org/drawingml/2006/table">
            <a:tbl>
              <a:tblPr/>
              <a:tblGrid>
                <a:gridCol w="509778"/>
                <a:gridCol w="509778"/>
                <a:gridCol w="509778"/>
                <a:gridCol w="50977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2120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5292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" y="1645920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60273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每列之和都是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62763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r₂,r₃,r₄ 加到 r₁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410712" y="1920240"/>
          <a:ext cx="2039112" cy="1609344"/>
        </p:xfrm>
        <a:graphic>
          <a:graphicData uri="http://schemas.openxmlformats.org/drawingml/2006/table">
            <a:tbl>
              <a:tblPr/>
              <a:tblGrid>
                <a:gridCol w="509778"/>
                <a:gridCol w="509778"/>
                <a:gridCol w="509778"/>
                <a:gridCol w="50977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326440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9612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05856" y="2743200"/>
            <a:ext cx="274320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44768" y="162763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第 1 行提出 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91072" y="1920240"/>
          <a:ext cx="2039112" cy="1609344"/>
        </p:xfrm>
        <a:graphic>
          <a:graphicData uri="http://schemas.openxmlformats.org/drawingml/2006/table">
            <a:tbl>
              <a:tblPr/>
              <a:tblGrid>
                <a:gridCol w="509778"/>
                <a:gridCol w="509778"/>
                <a:gridCol w="509778"/>
                <a:gridCol w="50977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14476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7648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86216" y="2743200"/>
            <a:ext cx="274320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25128" y="162763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r₁×(−1) 加到其余各行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171432" y="1920240"/>
          <a:ext cx="2039112" cy="1609344"/>
        </p:xfrm>
        <a:graphic>
          <a:graphicData uri="http://schemas.openxmlformats.org/drawingml/2006/table">
            <a:tbl>
              <a:tblPr/>
              <a:tblGrid>
                <a:gridCol w="509778"/>
                <a:gridCol w="509778"/>
                <a:gridCol w="509778"/>
                <a:gridCol w="50977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902512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35684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488" y="3931920"/>
            <a:ext cx="11240719" cy="640080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75488" y="3931920"/>
            <a:ext cx="5715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3504" y="410565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31920"/>
            <a:ext cx="1058235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D = 6 × (1 × 2 × 2 × 2) = 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48</a:t>
            </a: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　（上三角后，主对角线相乘即可）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736592"/>
            <a:ext cx="5532120" cy="15179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4736592"/>
            <a:ext cx="57150" cy="1517904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486460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这类题的特征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38928"/>
            <a:ext cx="522122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每行（列）元素之和相同；或者主对角线上是一个值、其余是另一个值（形如 aE + bJ）。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把其余行加到某一行，制造出「全部相等」的一行，再提公因子。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4736592"/>
            <a:ext cx="5532120" cy="15179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2" y="4736592"/>
            <a:ext cx="57150" cy="15179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486460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一般结论（值得记住）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138928"/>
            <a:ext cx="522122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对角为 a、其余为 b 的 n 阶行列式：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|A| = [a + (n−1)b] (a − b)^{n−1}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本题 a = 3, b = 1, n = 4 ⇒ (3+3)(3−1)³ = 6·8 = 48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计算范例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 3.1：先把某行化到只剩一个非零元，再展开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「造零 → 降阶」是行列式计算的第二条主线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1810512"/>
          <a:ext cx="1856232" cy="1609344"/>
        </p:xfrm>
        <a:graphic>
          <a:graphicData uri="http://schemas.openxmlformats.org/drawingml/2006/table">
            <a:tbl>
              <a:tblPr/>
              <a:tblGrid>
                <a:gridCol w="464058"/>
                <a:gridCol w="464058"/>
                <a:gridCol w="464058"/>
                <a:gridCol w="46405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21208" y="1810512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70048" y="1810512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" y="155448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52958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第 3 行含 0、1、−1，
是最省事的一行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554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c₃ 加到 c₁、c₄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73552" y="1901952"/>
          <a:ext cx="2039112" cy="1609344"/>
        </p:xfrm>
        <a:graphic>
          <a:graphicData uri="http://schemas.openxmlformats.org/drawingml/2006/table">
            <a:tbl>
              <a:tblPr/>
              <a:tblGrid>
                <a:gridCol w="509778"/>
                <a:gridCol w="509778"/>
                <a:gridCol w="509778"/>
                <a:gridCol w="50977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3127248" y="1901952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58968" y="1901952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68696" y="2633472"/>
            <a:ext cx="274320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07608" y="1554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按第 3 行展开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53912" y="1901952"/>
          <a:ext cx="2039112" cy="1207008"/>
        </p:xfrm>
        <a:graphic>
          <a:graphicData uri="http://schemas.openxmlformats.org/drawingml/2006/table">
            <a:tbl>
              <a:tblPr/>
              <a:tblGrid>
                <a:gridCol w="679704"/>
                <a:gridCol w="679704"/>
                <a:gridCol w="679704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007608" y="1901952"/>
            <a:ext cx="0" cy="120700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39328" y="1901952"/>
            <a:ext cx="0" cy="120700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07608" y="327355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= (−1)^{3+3}·M₃₃（只有 a₃₃ ≠ 0）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650224" y="1901952"/>
          <a:ext cx="2039112" cy="1207008"/>
        </p:xfrm>
        <a:graphic>
          <a:graphicData uri="http://schemas.openxmlformats.org/drawingml/2006/table">
            <a:tbl>
              <a:tblPr/>
              <a:tblGrid>
                <a:gridCol w="679704"/>
                <a:gridCol w="679704"/>
                <a:gridCol w="679704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8503920" y="1901952"/>
            <a:ext cx="0" cy="120700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35640" y="1901952"/>
            <a:ext cx="0" cy="120700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3920" y="3236976"/>
            <a:ext cx="321868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再按第 3 行展开（a₃₂ = −5）：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4·(+1)·|1 −1; 1 3|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+ (−5)·(−1)·|2 −1; −2 3|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= 4·4 + 5·4 = 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4041648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75488" y="4041648"/>
            <a:ext cx="57150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3504" y="437540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41648"/>
            <a:ext cx="4873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M₃₁ = |1 −1; 1 3| = 3 + 1 = 4，　M₃₂ = |2 −1; −2 3| = 6 − 2 =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041648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99632" y="4041648"/>
            <a:ext cx="5715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327648" y="437540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4041648"/>
            <a:ext cx="4873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D = 4·(+1)·4 + (−5)·(−1)·4 = 16 + 20 = </a:t>
            </a:r>
            <a:r>
              <a:rPr sz="15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5138928"/>
            <a:ext cx="11240719" cy="1115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75488" y="5138928"/>
            <a:ext cx="57150" cy="111556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5266944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策略总结：不要一上来就展开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41264"/>
            <a:ext cx="10929823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先观察哪一行（列）的零最多、元素是否有 ±1；若有 ±1，就用列（行）消法变换把该行其他元素都化为 0；再按该行展开 —— 只需算两个低阶行列式。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2.3 定理 3.3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Laplace 定理：按 k 行（列）展开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把「按一行展开」推广到「按 k 行展开」，一次降 k 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54480"/>
            <a:ext cx="55321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54480"/>
            <a:ext cx="57150" cy="201168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定义 3.2 / 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56816"/>
            <a:ext cx="52212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k 阶子式 N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：任取 k 行与 k 列，交叉处的元素构成的 k 阶行列式。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余子式 M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：划去 N 所在的行与列后剩下的 n−k 阶行列式。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代数余子式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：(−1)^{行序和 + 列序和}·M。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若行序与列序相同，则称 N 为</a:t>
            </a:r>
            <a:r>
              <a:rPr sz="12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主子式</a:t>
            </a: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（其代数余子式就是余子式）。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5321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7150" cy="2011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6824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定理 3.3（Laplace）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56816"/>
            <a:ext cx="52212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在 n 阶行列式 D 中取定 k 行（1 ≤ k ≤ n−1），则含于这 k 行中的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所有 k 阶子式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与其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代数余子式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乘积之和等于 D。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k = 1 时退化为按一行展开定理（定理 3.1）。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实用要点：选</a:t>
            </a:r>
            <a:r>
              <a:rPr sz="13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零最多</a:t>
            </a:r>
            <a:r>
              <a:rPr sz="135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的 k 行（列），使大多数 k 阶子式为 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712463"/>
            <a:ext cx="5532120" cy="2542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3712463"/>
            <a:ext cx="57150" cy="2542032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840479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例：按第 3 列（k = 1 的退化情形）逐层降阶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86384" y="4261104"/>
          <a:ext cx="1280160" cy="1152144"/>
        </p:xfrm>
        <a:graphic>
          <a:graphicData uri="http://schemas.openxmlformats.org/drawingml/2006/table">
            <a:tbl>
              <a:tblPr/>
              <a:tblGrid>
                <a:gridCol w="426720"/>
                <a:gridCol w="426720"/>
                <a:gridCol w="42672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40080" y="4261104"/>
            <a:ext cx="0" cy="11521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12848" y="4261104"/>
            <a:ext cx="0" cy="11521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95728" y="4315968"/>
            <a:ext cx="347472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= 2·(+1)·|2 1; −1 −3|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736592"/>
            <a:ext cx="347472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= 2·(−6 + 1) = −10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0468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第 3 列只有 1 个非零元（2），其余为 0 ⇒ 展开时只剩一项，一步就从 3 阶降到 2 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12463"/>
            <a:ext cx="5532120" cy="25420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99632" y="3712463"/>
            <a:ext cx="57150" cy="2542032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82512" y="3840479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Laplace 定理最漂亮的用途：分块行列式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120640" cy="1463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 A  O |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 C  B | = |A|·|B|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 O  A |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| B  O | = (−1)^(mn) |A|·|B|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20624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其中 A 为 m 阶、B 为 n 阶方阵。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分块三角的情形最常用。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14416"/>
            <a:ext cx="52120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这正是证明 |AB| = |A||B|、推导伴随矩阵性质与特征多项式的基本工具。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计算范例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例：选对展开的列，计算量下降一个数量级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5 阶行列式：第 3 列只有 1 个非零元，第 5 列只有 1 个非零元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1700784"/>
          <a:ext cx="2039112" cy="1828800"/>
        </p:xfrm>
        <a:graphic>
          <a:graphicData uri="http://schemas.openxmlformats.org/drawingml/2006/table">
            <a:tbl>
              <a:tblPr/>
              <a:tblGrid>
                <a:gridCol w="407822"/>
                <a:gridCol w="407822"/>
                <a:gridCol w="407822"/>
                <a:gridCol w="407822"/>
                <a:gridCol w="407824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21208" y="1700784"/>
            <a:ext cx="0" cy="182880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52928" y="1700784"/>
            <a:ext cx="0" cy="182880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" y="1444752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63931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第 3 列只有 a₃₃ = 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364992" y="2084831"/>
          <a:ext cx="1627632" cy="1463040"/>
        </p:xfrm>
        <a:graphic>
          <a:graphicData uri="http://schemas.openxmlformats.org/drawingml/2006/table">
            <a:tbl>
              <a:tblPr/>
              <a:tblGrid>
                <a:gridCol w="542544"/>
                <a:gridCol w="542544"/>
                <a:gridCol w="542544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3218688" y="2084831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38928" y="2084831"/>
            <a:ext cx="0" cy="146304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64408" y="1737360"/>
            <a:ext cx="182880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按第 3 列展开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3639312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= 1·(−1)^{3+3}·M₃₃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降为 4 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2651760"/>
            <a:ext cx="23774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62472" y="2331720"/>
          <a:ext cx="1307592" cy="1097280"/>
        </p:xfrm>
        <a:graphic>
          <a:graphicData uri="http://schemas.openxmlformats.org/drawingml/2006/table">
            <a:tbl>
              <a:tblPr/>
              <a:tblGrid>
                <a:gridCol w="435864"/>
                <a:gridCol w="435864"/>
                <a:gridCol w="435864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5916168" y="2331720"/>
            <a:ext cx="0" cy="109728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16368" y="2331720"/>
            <a:ext cx="0" cy="109728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16168" y="1920240"/>
            <a:ext cx="160020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再按第 3 列展开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3639312"/>
            <a:ext cx="1600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第 3 列全为 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⇒ 行列式 = 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23560" y="2788920"/>
            <a:ext cx="237744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1700784"/>
            <a:ext cx="4215384" cy="1005840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498079" y="1700784"/>
            <a:ext cx="57150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626095" y="2057400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1700784"/>
            <a:ext cx="355701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结论：D =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798064"/>
            <a:ext cx="4215384" cy="3456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498079" y="2798064"/>
            <a:ext cx="57150" cy="345643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59" y="2926080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本题教给我们什么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364992"/>
            <a:ext cx="3840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一定要先数</a:t>
            </a:r>
            <a:r>
              <a:rPr sz="13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每行每列的零</a:t>
            </a: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，再决定展开方式。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第 3 列只有 1 个非零元 ⇒ 一步降 1 阶，代价极小。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降阶后若出现</a:t>
            </a:r>
            <a:r>
              <a:rPr sz="13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整列为 0</a:t>
            </a: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，行列式立刻为 0，说明原矩阵的列向量线性相关。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④ 与之对比：若盲目按第 1 行展开，需要算 4 个 4 阶行列式，计算量相差数十倍。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⑤ 工程实现中更常用 LU 分解：O(n³) 且数值稳定。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计算技巧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技巧：加边法（升阶法）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有时「升高一阶」反而让行列式变得有规律，然后一次消元解决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1874519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例 3.4 原行列式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5221224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7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D 是主对角线上为 1+x, 1−x, 1+y, 1−y、其余元素全为 1 的 4 阶行列式。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7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直接看起来没有可利用的结构；但注意到每一行只有一个位置「特殊」。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于是给它</a:t>
            </a:r>
            <a:r>
              <a:rPr sz="1270" b="1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加一行一列</a:t>
            </a:r>
            <a:r>
              <a:rPr sz="127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，构造成 5 阶行列式，且新行新列的元素取值使行列式不变。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50392" y="3639312"/>
          <a:ext cx="3685031" cy="1828800"/>
        </p:xfrm>
        <a:graphic>
          <a:graphicData uri="http://schemas.openxmlformats.org/drawingml/2006/table">
            <a:tbl>
              <a:tblPr/>
              <a:tblGrid>
                <a:gridCol w="737006"/>
                <a:gridCol w="737006"/>
                <a:gridCol w="737006"/>
                <a:gridCol w="737006"/>
                <a:gridCol w="737007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1+x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1E4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704088" y="3639312"/>
            <a:ext cx="0" cy="182880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81727" y="3639312"/>
            <a:ext cx="0" cy="1828800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4088" y="5541264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加边后再做消法变换，很快化成三角形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572768"/>
            <a:ext cx="5532120" cy="45171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99632" y="1572768"/>
            <a:ext cx="57150" cy="4517136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加边法的操作要领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39696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加一行一列，值为 1（或让展开方便的数）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在原行列式外面套一圈，要求套完后按新行（列）展开能回到原式。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借新行/新列把原行「补齐」成统一形式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原矩阵每行都缺一个不同的特殊值，加边后可用新列把它们统一。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用新行（列）做消法变换，制造大量零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通常一次把新列（行）的倍数加到其他行列上，就能得到三角形或分块三角形。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④ 常见于</a:t>
            </a:r>
            <a:r>
              <a:rPr sz="13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：|A + αβᵀ| 型（矩阵加秩 1 修正）的行列式，对应矩阵引理 det(I + uvᵀ) = 1 + vᵀu。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2.3 例 3.3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Vandermonde 行列式：结构化的经典结果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「每一行都是幂次」的行列式，等于所有 (xⱼ − xᵢ) 的连乘积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920240"/>
          <a:ext cx="2496312" cy="1609344"/>
        </p:xfrm>
        <a:graphic>
          <a:graphicData uri="http://schemas.openxmlformats.org/drawingml/2006/table">
            <a:tbl>
              <a:tblPr/>
              <a:tblGrid>
                <a:gridCol w="332841"/>
                <a:gridCol w="499262"/>
                <a:gridCol w="554736"/>
                <a:gridCol w="388315"/>
                <a:gridCol w="72115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x₁²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x₁^{n−1}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x₂²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x₂^{n−1}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xₙ²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xₙ^{n−1}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1264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1568" y="1920240"/>
            <a:ext cx="0" cy="16093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02736" y="2103120"/>
            <a:ext cx="45720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1975104"/>
            <a:ext cx="420624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∏_{1≤i&lt;j≤n} (xⱼ − xᵢ)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265176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即：所有「后面的变量减前面的变量」的乘积。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推论</a:t>
            </a:r>
            <a:r>
              <a:rPr sz="14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：Dₙ ≠ 0 ⇔ x₁, x₂, …, xₙ 两两互异。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3840480"/>
            <a:ext cx="5532120" cy="24140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75488" y="3840480"/>
            <a:ext cx="57150" cy="2414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39684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证明思路（对阶数 n 归纳）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407408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① n = 2 时：|1 x₁; 1 x₂| = x₂ − x₁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把第 n−1 行的 (−xₙ) 倍加到第 n 行，第 n−2 行的 (−xₙ) 倍加到第 n−1 行……直到第 1 行。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此时第 n 列只剩最后一个元素非零，按第 n 列展开。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④ 提出各行的公因子 (xᵢ − xₙ)，剩余部分正是 n−1 阶 Vandermonde 行列式。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⑤ 由归纳假设得 Dₙ = ∏_{i&lt;n}(xᵢ − xₙ)·D_{n−1} = ∏_{i&lt;j}(xⱼ − xᵢ)。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572768"/>
            <a:ext cx="5532120" cy="4681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99632" y="1572768"/>
            <a:ext cx="57150" cy="4681728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为什么计算机专业要记住它？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39696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① 插值问题的可解性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求过 n 个点 (xᵢ, yᵢ) 的 n−1 次多项式，系数矩阵正是 Vandermonde 矩阵。xᵢ 互异 ⇒ 行列式非零 ⇒ 解唯一。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② 编码与纠错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Reed–Solomon 码用 Vandermonde 型矩阵做编码；其可逆性直接依赖 xᵢ 互异。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③ 一个数值警示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xᵢ 相差很小时 ∏(xⱼ − xᵢ) 极小 ⇒ 矩阵接近奇异，直接求解会严重损失精度（病态）。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这是「阶数越高越不准」的典型例子 —— 也是本讲复杂度讨论的现实版本。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方法论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计算行列式的决策流程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拿到一个行列式，第一步应该看什么？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627632"/>
            <a:ext cx="2761488" cy="2103120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57150" cy="2103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观察结构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06624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是否有大量零？是否三角/分块？
各行之和是否相等？是否 Vandermonde？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3552" y="2679192"/>
            <a:ext cx="73152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74136" y="1627632"/>
            <a:ext cx="2761488" cy="2103120"/>
          </a:xfrm>
          <a:prstGeom prst="roundRect">
            <a:avLst>
              <a:gd name="adj" fmla="val 4500"/>
            </a:avLst>
          </a:prstGeom>
          <a:solidFill>
            <a:srgbClr val="FDEED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74136" y="1627632"/>
            <a:ext cx="57150" cy="21031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57016" y="1755648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选择工具</a:t>
            </a:r>
          </a:p>
        </p:txBody>
      </p:sp>
      <p:sp>
        <p:nvSpPr>
          <p:cNvPr id="16" name="Oval 15"/>
          <p:cNvSpPr/>
          <p:nvPr/>
        </p:nvSpPr>
        <p:spPr>
          <a:xfrm>
            <a:off x="3538728" y="2212848"/>
            <a:ext cx="384048" cy="384048"/>
          </a:xfrm>
          <a:prstGeom prst="ellipse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706624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零多 ⇒ 展开降阶
有规律 ⇒ 化三角 / 递推 / 加边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0" y="2679192"/>
            <a:ext cx="73152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72784" y="1627632"/>
            <a:ext cx="2761488" cy="2103120"/>
          </a:xfrm>
          <a:prstGeom prst="roundRect">
            <a:avLst>
              <a:gd name="adj" fmla="val 4500"/>
            </a:avLst>
          </a:prstGeom>
          <a:solidFill>
            <a:srgbClr val="E4F1E4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72784" y="1627632"/>
            <a:ext cx="57150" cy="2103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55664" y="1755648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执行变换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221284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706624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只用消法变换制造零（不改值）
换行记 (−1)，提公因子记系数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0848" y="2679192"/>
            <a:ext cx="73152" cy="0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71432" y="1627632"/>
            <a:ext cx="2761488" cy="2103120"/>
          </a:xfrm>
          <a:prstGeom prst="roundRect">
            <a:avLst>
              <a:gd name="adj" fmla="val 4500"/>
            </a:avLst>
          </a:prstGeom>
          <a:solidFill>
            <a:srgbClr val="DEF2F3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171432" y="1627632"/>
            <a:ext cx="57150" cy="2103120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54312" y="1755648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读出答案</a:t>
            </a:r>
          </a:p>
        </p:txBody>
      </p:sp>
      <p:sp>
        <p:nvSpPr>
          <p:cNvPr id="28" name="Oval 27"/>
          <p:cNvSpPr/>
          <p:nvPr/>
        </p:nvSpPr>
        <p:spPr>
          <a:xfrm>
            <a:off x="9336024" y="2212848"/>
            <a:ext cx="384048" cy="384048"/>
          </a:xfrm>
          <a:prstGeom prst="ellipse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2706624"/>
            <a:ext cx="2432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三角形 ⇒ 主对角线相乘
分块三角 ⇒ 分块相乘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13632"/>
            <a:ext cx="5532120" cy="23408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3913632"/>
            <a:ext cx="57150" cy="23408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404164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常见结构 → 对应技巧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4480560"/>
            <a:ext cx="5120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三角 / 对角 / 副对角 → 直接乘积（注意副对角符号）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各行之和相等 → 全部加到第一行，提公因子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主对角线同值、其余同值 → 公式 [a+(n−1)b](a−b)^{n−1}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某行只有一个非零元 → 立即按该行展开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分块三角形 → 分块行列式相乘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三对角 / 递推结构 → 建立递推关系 Dₙ = pDₙ₋₁ + qDₙ₋₂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每行都是幂次 → Vandermonde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913632"/>
            <a:ext cx="5532120" cy="23408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2" y="3913632"/>
            <a:ext cx="57150" cy="2340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404164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工程视角：什么时候不该用行列式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5120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判断矩阵是否可逆：用 LU 分解的选主元过程，比算 det 便宜且稳定。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解方程组：用高斯消元 O(n³)，别用 Cramer 法则 O(n·n!)。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大矩阵的 det 极易上溢/下溢（多个大数相乘）——库函数常返回 log|det| 与符号。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· 但理论上：det 是判断可逆、线性相关、特征多项式、Jacobi 换元的统一语言。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3.2 定义 2.1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伴随矩阵 A*：把代数余子式按「转置」排好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由 −1 的符号棋盘和余子式拼成的矩阵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4672" y="1874519"/>
          <a:ext cx="2724912" cy="1609344"/>
        </p:xfrm>
        <a:graphic>
          <a:graphicData uri="http://schemas.openxmlformats.org/drawingml/2006/table">
            <a:tbl>
              <a:tblPr/>
              <a:tblGrid>
                <a:gridCol w="681228"/>
                <a:gridCol w="681228"/>
                <a:gridCol w="681228"/>
                <a:gridCol w="681228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3F5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3F5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1874519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3463543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8208" y="1874519"/>
            <a:ext cx="20320" cy="160934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98164" y="1874519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98164" y="3463543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65728" y="1874519"/>
            <a:ext cx="20320" cy="160934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1572768"/>
            <a:ext cx="3017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A*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118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注意下标：A* 的第 i 行第 j 列
= Aⱼᵢ（下标</a:t>
            </a:r>
            <a:r>
              <a:rPr sz="12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转置</a:t>
            </a:r>
            <a:r>
              <a:rPr sz="120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4617720"/>
            <a:ext cx="301752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4617720"/>
            <a:ext cx="57150" cy="164592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4745736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2 阶的速记法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138928"/>
            <a:ext cx="2743200" cy="1005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 = </a:t>
            </a:r>
            <a:r>
              <a:rPr sz="13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a, b], [c, 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⇒ A* = </a:t>
            </a:r>
            <a:r>
              <a:rPr sz="13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d, −b], [−c,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1737360"/>
            <a:ext cx="3977639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703320" y="1737360"/>
            <a:ext cx="57150" cy="45262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86200" y="1865376"/>
            <a:ext cx="3721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定理 2.1：AA* = A*A = |A|E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7" y="2304288"/>
            <a:ext cx="3611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为什么？</a:t>
            </a: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从展开定理与推论 3.1 直接得到：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(AA*)_{ij} = aᵢ₁Aⱼ₁ + aᵢ₂Aⱼ₂ + … + aᵢₙAⱼₙ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i = j 时 = |A|（按第 i 行展开）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i ≠ j 时 = 0（推论 3.1）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所以对角线上全是 |A|，其余全是 0。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两个直接推论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A 可逆 ⇔ |A| ≠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· A⁻¹ = A*/|A|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这是求逆矩阵的第二个公式（第一个是初等行变换法）。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36992" y="1737360"/>
            <a:ext cx="379476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936992" y="1737360"/>
            <a:ext cx="57150" cy="4526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19872" y="1865376"/>
            <a:ext cx="3538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2 阶数值验证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2304288"/>
            <a:ext cx="3474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 = </a:t>
            </a:r>
            <a:r>
              <a:rPr sz="13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1, 2], [3,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|A| = 4 − 6 = −2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A₁₁ = 4, A₁₂ = −3, A₂₁ = −2, A₂₂ =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A* = </a:t>
            </a:r>
            <a:r>
              <a:rPr sz="12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A₁₁, A₂₁], [A₁₂, A₂₂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　 = </a:t>
            </a:r>
            <a:r>
              <a:rPr sz="13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4, −2], [−3,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A·A* = </a:t>
            </a:r>
            <a:r>
              <a:rPr sz="12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1,2],[3,4</a:t>
            </a:r>
            <a:r>
              <a:rPr sz="12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·</a:t>
            </a:r>
            <a:r>
              <a:rPr sz="125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4,−2],[−3,1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= </a:t>
            </a:r>
            <a:r>
              <a:rPr sz="13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−2, 0], [0, −2</a:t>
            </a:r>
            <a:r>
              <a:rPr sz="13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 = |A|·E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A⁻¹ = A*/|A| = </a:t>
            </a:r>
            <a:r>
              <a:rPr sz="13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−2, 1], [1.5, −0.5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3.2 例 2.1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用伴随矩阵求逆：3 阶实例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A⁻¹ = A*/|A|：先算 9 个代数余子式，再按下标转置排列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1783080"/>
          <a:ext cx="1719072" cy="1261872"/>
        </p:xfrm>
        <a:graphic>
          <a:graphicData uri="http://schemas.openxmlformats.org/drawingml/2006/table">
            <a:tbl>
              <a:tblPr/>
              <a:tblGrid>
                <a:gridCol w="573024"/>
                <a:gridCol w="573024"/>
                <a:gridCol w="573024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21208" y="1783080"/>
            <a:ext cx="0" cy="126187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32888" y="1783080"/>
            <a:ext cx="0" cy="126187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" y="151790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218688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|A| = 1(18−20) − 1(12−15) + 2(8−9)
　　= −2 + 3 − 2 = </a:t>
            </a:r>
            <a:r>
              <a:rPr sz="12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783080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1764792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1·6−2·4 = −2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783080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764792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−(1·6−2·3) =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6568" y="1783080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1764792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1·4−1·3 = −1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2350008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331720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−(1·6−2·4) =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61888" y="2350008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331720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1·6−2·3 =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6568" y="2350008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4392" y="2331720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−(1·4−1·3) = −1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07208" y="2916936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2898648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1·5−2·3 = −1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61888" y="2916936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898648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−(1·5−2·3) = −1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16568" y="2916936"/>
            <a:ext cx="822960" cy="365760"/>
          </a:xfrm>
          <a:prstGeom prst="roundRect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A33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898648"/>
            <a:ext cx="21945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= 1·3−1·2 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3584448"/>
            <a:ext cx="9418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注意符号：A₁₂ = −M₁₂ = 3，A₂₁ = −M₂₁ = 2，A₂₃ = −M₂₃ = −1，A₃₂ = −M₃₂ = −1（(−1)^{i+j} 为负的四项）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67512" y="4041648"/>
          <a:ext cx="1719072" cy="1261872"/>
        </p:xfrm>
        <a:graphic>
          <a:graphicData uri="http://schemas.openxmlformats.org/drawingml/2006/table">
            <a:tbl>
              <a:tblPr/>
              <a:tblGrid>
                <a:gridCol w="573024"/>
                <a:gridCol w="573024"/>
                <a:gridCol w="573024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21208" y="404164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1208" y="5283200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11048" y="4041648"/>
            <a:ext cx="20320" cy="1261872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455164" y="404164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455164" y="5283200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522728" y="4041648"/>
            <a:ext cx="20320" cy="1261872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21208" y="3803904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A* 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8" y="4041648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排列规则：A* 的第 i 行 = 原矩阵第 i </a:t>
            </a:r>
            <a:r>
              <a:rPr sz="13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列</a:t>
            </a:r>
            <a:r>
              <a:rPr sz="13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的代数余子式。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等价说法：先按 [[A₁₁, A₁₂, A₁₃], …] 写出来，再整体转置。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041648"/>
            <a:ext cx="566928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=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552944" y="4041648"/>
          <a:ext cx="1719072" cy="1261872"/>
        </p:xfrm>
        <a:graphic>
          <a:graphicData uri="http://schemas.openxmlformats.org/drawingml/2006/table">
            <a:tbl>
              <a:tblPr/>
              <a:tblGrid>
                <a:gridCol w="573024"/>
                <a:gridCol w="573024"/>
                <a:gridCol w="573024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7406640" y="404164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406640" y="5283200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396480" y="4041648"/>
            <a:ext cx="20320" cy="1261872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340596" y="4041648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9340596" y="5283200"/>
            <a:ext cx="77724" cy="203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9408160" y="4041648"/>
            <a:ext cx="20320" cy="1261872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06640" y="3803904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A⁻¹ = A*/1 =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46920" y="3803904"/>
            <a:ext cx="2075688" cy="24323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646920" y="3803904"/>
            <a:ext cx="57150" cy="2432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829800" y="3931920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验证第一列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02368" y="4370832"/>
            <a:ext cx="181051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A·A⁻¹ 的第 1 列：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1·(−2)+1·3+2·(−1) = −1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2·(−2)+3·3+5·(−1) = 0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3·(−2)+4·3+6·(−1) = 0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即 A·A⁻¹ = 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" y="5614416"/>
            <a:ext cx="11240719" cy="640080"/>
          </a:xfrm>
          <a:prstGeom prst="roundRect">
            <a:avLst>
              <a:gd name="adj" fmla="val 6000"/>
            </a:avLst>
          </a:prstGeom>
          <a:solidFill>
            <a:srgbClr val="FDEEDE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475488" y="5614416"/>
            <a:ext cx="57150" cy="64008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603504" y="5788152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614416"/>
            <a:ext cx="1058235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代价对比</a:t>
            </a: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：伴随矩阵法需要算 n² 个 n−1 阶行列式，代价 O(n⁴) 以上；初等行变换法 (A|E) → (E|A⁻¹) 只需 O(n³)。理论上漂亮，工程上不用。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4.1.1 引言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线性方程组：三种写法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 个未知量、n 个方程的方程组 —— Cramer 法则的适用场景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874519"/>
          <a:ext cx="2724912" cy="1536192"/>
        </p:xfrm>
        <a:graphic>
          <a:graphicData uri="http://schemas.openxmlformats.org/drawingml/2006/table">
            <a:tbl>
              <a:tblPr/>
              <a:tblGrid>
                <a:gridCol w="2724912"/>
              </a:tblGrid>
              <a:tr h="384048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a₁₁x₁ + a₁₂x₂ + … + a₁ₙxₙ = 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a₂₁x₁ + a₂₂x₂ + … + a₂ₙxₙ = 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aₙ₁x₁ + aₙ₂x₂ + … + a_nn xₙ = bₙ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1554480"/>
            <a:ext cx="3017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① 原始形式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2103120"/>
            <a:ext cx="210312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 x =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55448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② 矩阵形式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103120"/>
            <a:ext cx="32004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x₁α₁ + x₂α₂ + … + xₙαₙ =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554480"/>
            <a:ext cx="3200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③ 列向量形式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3808" y="1993392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 = (α₁, α₂, …, αₙ) 是系数矩阵；b 称为常数项列向量。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3401568"/>
            <a:ext cx="5532120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3401568"/>
            <a:ext cx="57150" cy="2834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35295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Cramer 法则的适用条件（务必记牢）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968496"/>
            <a:ext cx="51206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方程组必须是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方形的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：n 个未知量、n 个方程；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系数行列式 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|A| ≠ 0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（即 A 可逆）；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满足①②时，方程组有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唯一解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，且解可以直接写出来。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若 |A| = 0：Cramer 法则</a:t>
            </a:r>
            <a:r>
              <a:rPr sz="13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失效</a:t>
            </a: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 —— 不是「无解」，而是无法用它判断；需改用消元法与秩理论。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401568"/>
            <a:ext cx="5532120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99632" y="3401568"/>
            <a:ext cx="57150" cy="28346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82512" y="35295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本节的推理链条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59936"/>
            <a:ext cx="5120640" cy="493776"/>
          </a:xfrm>
          <a:prstGeom prst="roundRect">
            <a:avLst>
              <a:gd name="adj" fmla="val 14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28816" y="4059936"/>
            <a:ext cx="2194560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 可逆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059936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⇔ |A| ≠ 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0" y="4572000"/>
            <a:ext cx="0" cy="128016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4700016"/>
            <a:ext cx="5120640" cy="493776"/>
          </a:xfrm>
          <a:prstGeom prst="roundRect">
            <a:avLst>
              <a:gd name="adj" fmla="val 14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28816" y="4700016"/>
            <a:ext cx="2194560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A⁻¹ = A*/|A|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700016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伴随矩阵公式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61120" y="5212080"/>
            <a:ext cx="0" cy="128016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0" y="5340096"/>
            <a:ext cx="5120640" cy="493776"/>
          </a:xfrm>
          <a:prstGeom prst="roundRect">
            <a:avLst>
              <a:gd name="adj" fmla="val 14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28816" y="5340096"/>
            <a:ext cx="2194560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x = A⁻¹b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340096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解的唯一性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61120" y="5852160"/>
            <a:ext cx="0" cy="128016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00800" y="5980176"/>
            <a:ext cx="5120640" cy="493776"/>
          </a:xfrm>
          <a:prstGeom prst="roundRect">
            <a:avLst>
              <a:gd name="adj" fmla="val 14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28816" y="5980176"/>
            <a:ext cx="2194560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xⱼ = Dⱼ/|A|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980176"/>
            <a:ext cx="2651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 法则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4.1.1 推导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推导：从 A⁻¹ 到 Cramer 法则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只用两件事：伴随矩阵公式 + 按列展开定理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1874519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第 1 步：逆矩阵公式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57984"/>
            <a:ext cx="502920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 x = b，|A| ≠ 0 ⇒ x = A⁻¹b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A⁻¹ = A* / |A|　⇒　x = (1/|A|)·A*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53212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72768"/>
            <a:ext cx="57150" cy="1874519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第 2 步：写出 A*b 的第 j 个分量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57984"/>
            <a:ext cx="512064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(A*b)ⱼ = A₁ⱼb₁ + A₂ⱼb₂ + … + Aₙⱼbₙ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（A* 的第 j 行 = A 第 j 列的代数余子式）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611880"/>
            <a:ext cx="5532120" cy="2624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3611880"/>
            <a:ext cx="57150" cy="2624328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7398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第 3 步：构造 Dⱼ 并识别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50392" y="4206240"/>
          <a:ext cx="2496312" cy="1536192"/>
        </p:xfrm>
        <a:graphic>
          <a:graphicData uri="http://schemas.openxmlformats.org/drawingml/2006/table">
            <a:tbl>
              <a:tblPr/>
              <a:tblGrid>
                <a:gridCol w="875898"/>
                <a:gridCol w="744514"/>
                <a:gridCol w="87590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aₙ₁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a_nn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04088" y="4206240"/>
            <a:ext cx="0" cy="153619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93008" y="4206240"/>
            <a:ext cx="0" cy="1536192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21608" y="4224528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Dⱼ = 把 |A| 的第 j 列
换成 b 所得的行列式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按第 j 列展开：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Dⱼ = b₁A₁ⱼ + … + bₙAₙⱼ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11880"/>
            <a:ext cx="5532120" cy="2624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199632" y="3611880"/>
            <a:ext cx="57150" cy="2624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82512" y="3739896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结论：Cramer 法则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87952"/>
            <a:ext cx="5212080" cy="10058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xⱼ = Dⱼ / |A| ，　j = 1, 2, …,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28032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唯一性</a:t>
            </a: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：A 可逆 ⇒ A⁻¹ 唯一 ⇒ 解唯一。所以 Cramer 公式给出的就是方程组的全部解。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要点</a:t>
            </a: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：Dⱼ 只在第 j 列不同，其余各列与原系数行列式完全相同。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6345936"/>
            <a:ext cx="11240719" cy="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75488" y="6345936"/>
            <a:ext cx="571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792" y="6345936"/>
            <a:ext cx="10966399" cy="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模板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 n = 2 的全部细节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 2 阶的每一步写清楚，n 阶只是同一件事的放大版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5532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a₁₁x₁ + a₁₂x₂ = b₁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a₂₁x₁ + a₂₂x₂ = b₂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926080"/>
          <a:ext cx="1124712" cy="841248"/>
        </p:xfrm>
        <a:graphic>
          <a:graphicData uri="http://schemas.openxmlformats.org/drawingml/2006/table">
            <a:tbl>
              <a:tblPr/>
              <a:tblGrid>
                <a:gridCol w="562356"/>
                <a:gridCol w="562356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66928" y="2926080"/>
            <a:ext cx="0" cy="84124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84248" y="2926080"/>
            <a:ext cx="0" cy="84124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688336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2980944"/>
            <a:ext cx="17373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= a₁₁a₂₂ − a₁₂a₂₁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3232" y="3840480"/>
          <a:ext cx="1124712" cy="841248"/>
        </p:xfrm>
        <a:graphic>
          <a:graphicData uri="http://schemas.openxmlformats.org/drawingml/2006/table">
            <a:tbl>
              <a:tblPr/>
              <a:tblGrid>
                <a:gridCol w="562356"/>
                <a:gridCol w="562356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566928" y="3840480"/>
            <a:ext cx="0" cy="84124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84248" y="3840480"/>
            <a:ext cx="0" cy="84124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3602736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D₁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3895344"/>
            <a:ext cx="17373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= b₁a₂₂ − a₁₂b₂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13232" y="4754880"/>
          <a:ext cx="1124712" cy="841248"/>
        </p:xfrm>
        <a:graphic>
          <a:graphicData uri="http://schemas.openxmlformats.org/drawingml/2006/table">
            <a:tbl>
              <a:tblPr/>
              <a:tblGrid>
                <a:gridCol w="562356"/>
                <a:gridCol w="562356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a₁₁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a₂₁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b₂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566928" y="4754880"/>
            <a:ext cx="0" cy="84124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84248" y="4754880"/>
            <a:ext cx="0" cy="841248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4517136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D₂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4809744"/>
            <a:ext cx="173736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= a₁₁b₂ − b₁a₂₁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1572768"/>
            <a:ext cx="3977639" cy="45171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931920" y="1572768"/>
            <a:ext cx="57150" cy="45171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114800" y="1700784"/>
            <a:ext cx="3721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解的形式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2157984"/>
            <a:ext cx="356616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D₁ ≠ 0 时：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x₁ = D₁/D,  x₂ = D₂/D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7" y="3127248"/>
            <a:ext cx="3566160" cy="1778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33087" y="3273552"/>
            <a:ext cx="3566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数值例子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2x₁ + 3x₂ = 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1x₁ − 2x₂ = −3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D = 2·(−2) − 3·1 = −7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D₁ = 8·(−2) − 3·(−3) = −7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D₂ = 2·(−3) − 8·1 = −14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x₁ = 1，　x₂ =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检验：2·1 + 3·2 = 8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　　　1·1 − 2·2 = −3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572768"/>
            <a:ext cx="3547872" cy="45171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183879" y="1572768"/>
            <a:ext cx="57150" cy="451713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66759" y="17007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n 阶的写法（对照记忆）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2139696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D = |A|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Dⱼ = 把 D 的第 j 列换成 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xⱼ = Dⱼ /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j 从 1 到 n，每个未知量对应一个 Dⱼ。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分母始终是 D</a:t>
            </a:r>
            <a:r>
              <a:rPr sz="1300" b="0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，只有分子在换列。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这也是为什么 |A| = 0 时公式失效 —— 分母为 0。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为什么是这个比值？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Cramer 法则的几何直观：面积之比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把「解」看成面积（体积）的比例，公式立刻就合理了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4984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3352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90088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48456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06824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6616" y="2185416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" y="2843784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6616" y="3502152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616" y="4818888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" y="5477256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" y="6135624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" y="4160520"/>
            <a:ext cx="424281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31720" y="1984248"/>
            <a:ext cx="0" cy="424281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52544" y="4197096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1856232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23" name="Freeform 22"/>
          <p:cNvSpPr/>
          <p:nvPr/>
        </p:nvSpPr>
        <p:spPr>
          <a:xfrm>
            <a:off x="2331720" y="251460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316736" y="1316736"/>
                </a:lnTo>
                <a:lnTo>
                  <a:pt x="1645920" y="0"/>
                </a:lnTo>
                <a:lnTo>
                  <a:pt x="329184" y="329184"/>
                </a:lnTo>
                <a:close/>
              </a:path>
            </a:pathLst>
          </a:custGeom>
          <a:solidFill>
            <a:srgbClr val="DCEAF7"/>
          </a:solidFill>
          <a:ln w="2159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2331720" y="3831336"/>
            <a:ext cx="1316736" cy="329184"/>
          </a:xfrm>
          <a:prstGeom prst="line">
            <a:avLst/>
          </a:prstGeom>
          <a:ln w="3302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64408" y="3950208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α₁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331720" y="2843784"/>
            <a:ext cx="329184" cy="1316736"/>
          </a:xfrm>
          <a:prstGeom prst="line">
            <a:avLst/>
          </a:prstGeom>
          <a:ln w="33020">
            <a:solidFill>
              <a:srgbClr val="1182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14600" y="2651760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α₂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760720"/>
            <a:ext cx="3474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4C82"/>
                </a:solidFill>
                <a:latin typeface="微软雅黑"/>
                <a:ea typeface="微软雅黑"/>
                <a:cs typeface="微软雅黑"/>
              </a:rPr>
              <a:t>面积 S = |det(α₁, α₂)| = 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57416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15784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74152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90888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9256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707624" y="2185416"/>
            <a:ext cx="0" cy="3950208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57416" y="2185416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57416" y="2843784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57416" y="3502152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57416" y="4818888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57416" y="5477256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57416" y="6135624"/>
            <a:ext cx="3950208" cy="0"/>
          </a:xfrm>
          <a:prstGeom prst="line">
            <a:avLst/>
          </a:prstGeom>
          <a:ln w="7620">
            <a:solidFill>
              <a:srgbClr val="E2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65976" y="4160520"/>
            <a:ext cx="4242816" cy="0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32520" y="1984248"/>
            <a:ext cx="0" cy="4242816"/>
          </a:xfrm>
          <a:prstGeom prst="line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753344" y="4197096"/>
            <a:ext cx="320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856232"/>
            <a:ext cx="274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y</a:t>
            </a:r>
          </a:p>
        </p:txBody>
      </p:sp>
      <p:sp>
        <p:nvSpPr>
          <p:cNvPr id="45" name="Freeform 44"/>
          <p:cNvSpPr/>
          <p:nvPr/>
        </p:nvSpPr>
        <p:spPr>
          <a:xfrm>
            <a:off x="8732520" y="251460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316736" y="1316736"/>
                </a:lnTo>
                <a:lnTo>
                  <a:pt x="1645920" y="0"/>
                </a:lnTo>
                <a:lnTo>
                  <a:pt x="329184" y="329184"/>
                </a:lnTo>
                <a:close/>
              </a:path>
            </a:pathLst>
          </a:custGeom>
          <a:solidFill>
            <a:srgbClr val="F2F3F5"/>
          </a:solidFill>
          <a:ln w="1778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732520" y="3172968"/>
            <a:ext cx="1514246" cy="987552"/>
          </a:xfrm>
          <a:custGeom>
            <a:avLst/>
            <a:gdLst/>
            <a:ahLst/>
            <a:cxnLst/>
            <a:rect l="l" t="t" r="r" b="b"/>
            <a:pathLst>
              <a:path w="1514246" h="987552">
                <a:moveTo>
                  <a:pt x="0" y="987552"/>
                </a:moveTo>
                <a:lnTo>
                  <a:pt x="1316736" y="658368"/>
                </a:lnTo>
                <a:lnTo>
                  <a:pt x="1514246" y="0"/>
                </a:lnTo>
                <a:lnTo>
                  <a:pt x="197510" y="329184"/>
                </a:lnTo>
                <a:close/>
              </a:path>
            </a:pathLst>
          </a:custGeom>
          <a:solidFill>
            <a:srgbClr val="FDEEDE"/>
          </a:solidFill>
          <a:ln w="24130">
            <a:solidFill>
              <a:srgbClr val="D96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8732520" y="3831336"/>
            <a:ext cx="1316736" cy="329184"/>
          </a:xfrm>
          <a:prstGeom prst="line">
            <a:avLst/>
          </a:prstGeom>
          <a:ln w="30480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65208" y="3950208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α₁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8732520" y="3502152"/>
            <a:ext cx="197510" cy="658368"/>
          </a:xfrm>
          <a:prstGeom prst="line">
            <a:avLst/>
          </a:prstGeom>
          <a:ln w="3302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043062" y="3346704"/>
            <a:ext cx="768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760720"/>
            <a:ext cx="3840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面积 S₁ = |det(b, α₂)| = D₁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1572768"/>
            <a:ext cx="11240719" cy="786384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75488" y="1572768"/>
            <a:ext cx="57150" cy="7863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03504" y="181965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1572768"/>
            <a:ext cx="1058235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把 x₁α₁ + x₂α₂ = b 写成 b = x₁α₁ + x₂α₂。两边同时与 α₂ 求「有向面积」：
det(b, α₂) = x₁·det(α₁, α₂) + x₂·det(α₂, α₂) = x₁·det(α₁, α₂)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5488" y="2487168"/>
            <a:ext cx="11240719" cy="603504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2487168"/>
            <a:ext cx="57150" cy="6035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03504" y="264261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2487168"/>
            <a:ext cx="1058235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⇒　x₁ = det(b, α₂)/det(α₁, α₂) = D₁ / D　　同理 x₂ = D₂ / D　—— 这就是 Cramer 法则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" y="3273552"/>
            <a:ext cx="5532120" cy="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75488" y="6108192"/>
            <a:ext cx="11240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推广到 n 阶：解 xⱼ = (n 维有向体积之比)，「用 b 替换第 j 条棱」正是体积比的定义。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4.1.1 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例题：用 Cramer 法则解三元方程组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完整流程：算 D → 判断唯一解 → 算三个 Dⱼ → 写出解 → 检验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72768"/>
            <a:ext cx="4937760" cy="1371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x₁ + x₂ + x₃ = 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x₁ + 2x₂ + 4x₃ =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x₁ + 3x₂ + 9x₃ = −4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1627632"/>
            <a:ext cx="20116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0E4C82"/>
                </a:solidFill>
                <a:latin typeface="Cambria"/>
                <a:ea typeface="Cambria"/>
                <a:cs typeface="Cambria"/>
              </a:rPr>
              <a:t>A x = 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" y="3127248"/>
          <a:ext cx="1307592" cy="1152144"/>
        </p:xfrm>
        <a:graphic>
          <a:graphicData uri="http://schemas.openxmlformats.org/drawingml/2006/table">
            <a:tbl>
              <a:tblPr/>
              <a:tblGrid>
                <a:gridCol w="435864"/>
                <a:gridCol w="435864"/>
                <a:gridCol w="435864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612648" y="3127248"/>
            <a:ext cx="0" cy="11521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12848" y="3127248"/>
            <a:ext cx="0" cy="1152144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0007" y="3182112"/>
            <a:ext cx="283464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D = 1·(18−12) − 1·(9−4) + 1·(3−2) = 2 ≠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71216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 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3931920"/>
            <a:ext cx="4937760" cy="548640"/>
          </a:xfrm>
          <a:prstGeom prst="roundRect">
            <a:avLst>
              <a:gd name="adj" fmla="val 6000"/>
            </a:avLst>
          </a:prstGeom>
          <a:solidFill>
            <a:srgbClr val="E4F1E4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3931920"/>
            <a:ext cx="5715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03504" y="4059936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4279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D ≠ 0 ⇒ 方程组有唯一解，可用 Cramer 法则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815584" y="1554480"/>
          <a:ext cx="1463040" cy="1042416"/>
        </p:xfrm>
        <a:graphic>
          <a:graphicData uri="http://schemas.openxmlformats.org/drawingml/2006/table">
            <a:tbl>
              <a:tblPr/>
              <a:tblGrid>
                <a:gridCol w="487680"/>
                <a:gridCol w="487680"/>
                <a:gridCol w="48768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5669280" y="1554480"/>
            <a:ext cx="0" cy="104241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24928" y="1554480"/>
            <a:ext cx="0" cy="104241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02352" y="1554480"/>
            <a:ext cx="53035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1554480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= 2(18−12) − 1(9+16) + 1(3+8) = 12 − 25 + 11 = −2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x₁ = −2 ÷ 2 = −1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815584" y="2487168"/>
          <a:ext cx="1463040" cy="1042416"/>
        </p:xfrm>
        <a:graphic>
          <a:graphicData uri="http://schemas.openxmlformats.org/drawingml/2006/table">
            <a:tbl>
              <a:tblPr/>
              <a:tblGrid>
                <a:gridCol w="487680"/>
                <a:gridCol w="487680"/>
                <a:gridCol w="48768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EDE"/>
                    </a:solidFill>
                  </a:tcPr>
                </a:tc>
              </a:tr>
            </a:tbl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5669280" y="2487168"/>
            <a:ext cx="0" cy="104241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4928" y="2487168"/>
            <a:ext cx="0" cy="104241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02352" y="2487168"/>
            <a:ext cx="53035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2" y="2487168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= 1(9+16) − 2(9−4) + 1(−4−1) = 25 − 10 − 5 = 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x₂ = 10 ÷ 2 = 5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815584" y="3419856"/>
          <a:ext cx="1463040" cy="1042416"/>
        </p:xfrm>
        <a:graphic>
          <a:graphicData uri="http://schemas.openxmlformats.org/drawingml/2006/table">
            <a:tbl>
              <a:tblPr/>
              <a:tblGrid>
                <a:gridCol w="487680"/>
                <a:gridCol w="487680"/>
                <a:gridCol w="48768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B1B1B"/>
                          </a:solidFill>
                          <a:latin typeface="Cambria"/>
                          <a:ea typeface="Cambria"/>
                          <a:cs typeface="Cambria"/>
                        </a:rPr>
                        <a:t>−4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9" name="Connector 28"/>
          <p:cNvCxnSpPr/>
          <p:nvPr/>
        </p:nvCxnSpPr>
        <p:spPr>
          <a:xfrm>
            <a:off x="5669280" y="3419856"/>
            <a:ext cx="0" cy="104241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24928" y="3419856"/>
            <a:ext cx="0" cy="1042416"/>
          </a:xfrm>
          <a:prstGeom prst="line">
            <a:avLst/>
          </a:prstGeom>
          <a:ln w="27940">
            <a:solidFill>
              <a:srgbClr val="14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02352" y="3419856"/>
            <a:ext cx="53035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D₃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2" y="3419856"/>
            <a:ext cx="4023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A5A5A"/>
                </a:solidFill>
                <a:latin typeface="Cambria"/>
                <a:ea typeface="Cambria"/>
                <a:cs typeface="Cambria"/>
              </a:rPr>
              <a:t>= 1(−8−3) − 1(−4−1) + 2(3−2) = −11 + 5 + 2 = −4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B0B"/>
                </a:solidFill>
                <a:latin typeface="Cambria"/>
                <a:ea typeface="Cambria"/>
                <a:cs typeface="Cambria"/>
              </a:rPr>
              <a:t>x₃ = −4 ÷ 2 = −2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4626864"/>
            <a:ext cx="11240719" cy="566928"/>
          </a:xfrm>
          <a:prstGeom prst="roundRect">
            <a:avLst>
              <a:gd name="adj" fmla="val 6000"/>
            </a:avLst>
          </a:prstGeom>
          <a:solidFill>
            <a:srgbClr val="EFF6FC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75488" y="4626864"/>
            <a:ext cx="57150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03504" y="4764024"/>
            <a:ext cx="310896" cy="29260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626864"/>
            <a:ext cx="105823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所以方程组的唯一解为　x₁ = −1，x₂ = 5，x₃ = −2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5376672"/>
            <a:ext cx="11240719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75488" y="5376672"/>
            <a:ext cx="57150" cy="8412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368" y="5504688"/>
            <a:ext cx="10984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代回检验（必做）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779008"/>
            <a:ext cx="10929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(−1) + 5 + (−2) = 2 ✓　　(−1) + 2·5 + 4·(−2) = 1 ✓　　(−1) + 3·5 + 9·(−2) = −4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边界情形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如果 |A| = 0 怎么办？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 法则失效 ≠ 方程组无解；必须换工具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|A| = 0 意味着什么（等价说法）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139696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A 不可逆（奇异矩阵）；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A 的列向量组（行向量组）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线性相关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秩 R(A) &lt; n；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几何上：变换把空间压到更低维，体积为 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53212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72768"/>
            <a:ext cx="57150" cy="201168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此时方程组只有两种可能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39696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无解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（不相容）：R(A) &lt; R(A, b)；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有无穷多解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：R(A) = R(A, b) &lt; n。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绝不可能有唯一解 —— 这正说明 n 个方程不再「独立」。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730752"/>
            <a:ext cx="5532120" cy="25054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3730752"/>
            <a:ext cx="57150" cy="25054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85876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判定工具：增广矩阵的秩（第四章定理 1.1–1.3）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4297680"/>
            <a:ext cx="51206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297680"/>
            <a:ext cx="2606040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R(A) &lt; R(A, 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728" y="4379976"/>
            <a:ext cx="2103120" cy="347472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846320"/>
            <a:ext cx="51206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4846320"/>
            <a:ext cx="2606040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R(A) = R(A, b) = 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8728" y="4928616"/>
            <a:ext cx="2103120" cy="347472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5394960"/>
            <a:ext cx="512064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394960"/>
            <a:ext cx="2606040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R(A) = R(A, b) &lt; 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5477256"/>
            <a:ext cx="2103120" cy="347472"/>
          </a:xfrm>
          <a:prstGeom prst="roundRect">
            <a:avLst>
              <a:gd name="adj" fmla="val 22000"/>
            </a:avLst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无穷多解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96188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第三行中 n − r 表示自由未知量的个数。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730752"/>
            <a:ext cx="5532120" cy="25054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99632" y="3730752"/>
            <a:ext cx="57150" cy="2505456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82512" y="3858768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齐次方程组 Ax = 0 的判定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9768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|A| ≠ 0 ⇒ 只有零解 x = 0；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|A| = 0 ⇒ 有非零解（无穷多解）。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例：判断 λ 取何值时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1B1B"/>
                </a:solidFill>
                <a:latin typeface="Cambria"/>
                <a:ea typeface="Cambria"/>
                <a:cs typeface="Cambria"/>
              </a:rPr>
              <a:t>λx₁ + x₂ + x₃ = 0；x₁ + λx₂ + x₃ = 0；x₁ + x₂ + λx₃ =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有非零解？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828B"/>
                </a:solidFill>
                <a:latin typeface="Cambria"/>
                <a:ea typeface="Cambria"/>
                <a:cs typeface="Cambria"/>
              </a:rPr>
              <a:t>系数行列式 = (λ−1)²(λ+2) = 0 ⇒ λ = 1 或 λ = −2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6345936"/>
            <a:ext cx="11240719" cy="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" y="6345936"/>
            <a:ext cx="571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2" y="6345936"/>
            <a:ext cx="10966399" cy="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Cramer 法则：理论价值 vs 计算代价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一个「美而慢」的公式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5532120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2395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理论价值（为什么必须掌握）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522122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给出解与系数的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显式依赖关系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：xⱼ 是 b 与 A 的有理函数。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用于</a:t>
            </a:r>
            <a:r>
              <a:rPr sz="135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定性分析</a:t>
            </a: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：解如何随参数变化（灵敏度分析）、何时解为 0、符号判断。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证明工具：线性相关性的判定、逆矩阵公式、特征多项式的推导。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④ 判别</a:t>
            </a: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唯一解</a:t>
            </a:r>
            <a:r>
              <a:rPr sz="1350" b="0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的判据：|A| ≠ 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532120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572768"/>
            <a:ext cx="57150" cy="2395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276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计算代价（为什么工程上不用）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75104"/>
            <a:ext cx="522122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要算 n + 1 个 n 阶行列式；若用定义法，代价约 (n+1)·n!。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即使用展开法，每个行列式 O(n!) ~ O(n⁴)，总体远贵于高斯消元 O(n³)。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数值上 det 易上溢 / 下溢（量级可达 10³⁰⁰ 以上），而消元法只做局部缩放。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判断与应用用 Cramer，真正求解用消元法</a:t>
            </a:r>
            <a:r>
              <a:rPr sz="1350" b="0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33087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运算量对比（纵轴为 log₁₀ 量级）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5688573"/>
            <a:ext cx="960120" cy="30074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9848" y="5414253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10^2.9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6044184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n=5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300216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 ≈ 6·5! = 720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5194340"/>
            <a:ext cx="960120" cy="79497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13048" y="4920020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10^7.6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6044184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n=10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6300216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 ≈ 11·10! ≈ 3.6×10⁷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3917746"/>
            <a:ext cx="960120" cy="2071573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56248" y="3643426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0392B"/>
                </a:solidFill>
                <a:latin typeface="Cambria"/>
                <a:ea typeface="Cambria"/>
                <a:cs typeface="Cambria"/>
              </a:rPr>
              <a:t>10^19.7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6044184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n=20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300216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 ≈ 21·20! ≈ 5×10¹⁹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5597088"/>
            <a:ext cx="960120" cy="39223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99448" y="5322768"/>
            <a:ext cx="1325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E7D32"/>
                </a:solidFill>
                <a:latin typeface="Cambria"/>
                <a:ea typeface="Cambria"/>
                <a:cs typeface="Cambria"/>
              </a:rPr>
              <a:t>10^3.7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6044184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4A"/>
                </a:solidFill>
                <a:latin typeface="Cambria"/>
                <a:ea typeface="Cambria"/>
                <a:cs typeface="Cambria"/>
              </a:rPr>
              <a:t>消元法 n=20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300216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2n³/3 ≈ 5.3×10³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6007608"/>
            <a:ext cx="10332720" cy="0"/>
          </a:xfrm>
          <a:prstGeom prst="line">
            <a:avLst/>
          </a:prstGeom>
          <a:ln w="12700">
            <a:solidFill>
              <a:srgbClr val="C9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总结：一张图串起整讲内容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从排列到 Cramer 法则的逻辑链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1790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DCEAF7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17904"/>
            <a:ext cx="57150" cy="5303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51790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全排列 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151790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n! 个乘积项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2066544"/>
            <a:ext cx="0" cy="73152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" y="215798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DEF2F3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" y="2157984"/>
            <a:ext cx="57150" cy="530352"/>
          </a:xfrm>
          <a:prstGeom prst="rect">
            <a:avLst/>
          </a:prstGeom>
          <a:solidFill>
            <a:srgbClr val="118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15798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828B"/>
                </a:solidFill>
                <a:latin typeface="微软雅黑"/>
                <a:ea typeface="微软雅黑"/>
                <a:cs typeface="微软雅黑"/>
              </a:rPr>
              <a:t>逆序数 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15798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决定每项符号 (−1)^τ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4128" y="2706624"/>
            <a:ext cx="0" cy="73152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5488" y="279806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DCEAF7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5488" y="2798064"/>
            <a:ext cx="57150" cy="5303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79806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n 阶行列式 |A|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279806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代数定义 + 面积/体积直观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4128" y="3346704"/>
            <a:ext cx="0" cy="73152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" y="343814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E4F1E4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75488" y="3438144"/>
            <a:ext cx="57150" cy="5303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43814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性质 1–5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343814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初等变换如何改变 |A|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24128" y="3986784"/>
            <a:ext cx="0" cy="73152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75488" y="407822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FDEEDE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75488" y="4078224"/>
            <a:ext cx="57150" cy="530352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407822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展开定理 + Laplace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407822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降阶：O(n!) → 可控计算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4128" y="4626864"/>
            <a:ext cx="0" cy="73152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5488" y="471830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EEE7F7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" y="4718304"/>
            <a:ext cx="57150" cy="530352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471830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A3D9A"/>
                </a:solidFill>
                <a:latin typeface="微软雅黑"/>
                <a:ea typeface="微软雅黑"/>
                <a:cs typeface="微软雅黑"/>
              </a:rPr>
              <a:t>伴随矩阵 A*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7208" y="471830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AA* = |A|E，A⁻¹ = A*/|A|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4128" y="5266944"/>
            <a:ext cx="0" cy="73152"/>
          </a:xfrm>
          <a:prstGeom prst="line">
            <a:avLst/>
          </a:prstGeom>
          <a:ln w="20320">
            <a:solidFill>
              <a:srgbClr val="C9CD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75488" y="5358384"/>
            <a:ext cx="5074920" cy="530352"/>
          </a:xfrm>
          <a:prstGeom prst="roundRect">
            <a:avLst>
              <a:gd name="adj" fmla="val 16000"/>
            </a:avLst>
          </a:prstGeom>
          <a:solidFill>
            <a:srgbClr val="FAE4E1"/>
          </a:solidFill>
          <a:ln w="889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75488" y="5358384"/>
            <a:ext cx="57150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5358384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Cramer 法则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7208" y="535838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xⱼ = Dⱼ/|A|（|A| ≠ 0）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1517904"/>
            <a:ext cx="5733288" cy="22494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989320" y="1517904"/>
            <a:ext cx="57150" cy="22494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72200" y="1645920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三条必须形成条件反射的结论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1920240"/>
            <a:ext cx="5422392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400" b="1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|A| ≠ 0</a:t>
            </a: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 ⇔ A 可逆 ⇔ Ax = b 有唯一解 ⇔ 列向量线性无关。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② 化三角形：|A| = 主对角线元素之积（换行补符号）。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③ 展开定理：|A| = Σ aᵢⱼAᵢⱼ，可换任意行（列）。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3913632"/>
            <a:ext cx="5733288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989320" y="3913632"/>
            <a:ext cx="57150" cy="210312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172200" y="4041648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B4A"/>
                </a:solidFill>
                <a:latin typeface="微软雅黑"/>
                <a:ea typeface="微软雅黑"/>
                <a:cs typeface="微软雅黑"/>
              </a:rPr>
              <a:t>继续学习的地图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315968"/>
            <a:ext cx="5422392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§4.1.2 消元法：一般方程组的统一解法（不相容 / 无穷多解）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§4.2 向量组的线性相关性：用行列式判定线性无关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§4.4 解的结构：基础解系 + 特解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第五章 特征值：|λE − A| = 0 就是行列式的应用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第六章 二次型：正定性由各阶顺序主子式判定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课堂练习：六道题覆盖全讲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建议 12 分钟独立完成，再对照答案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499616"/>
            <a:ext cx="11240719" cy="804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499616"/>
            <a:ext cx="57150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03504" y="1636776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1691640"/>
            <a:ext cx="749808" cy="274320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逆序数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1554480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计算 τ(2 4 1 5 3)，并说明 a₁₄a₂₁a₃₃a₄₂a₅₅ 的符号。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8" y="1609344"/>
            <a:ext cx="20320" cy="585216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47688" y="1554480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τ = 0+1+0+2+1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（偶）
列下标 4 1 3 2 5 ⇒ τ = 4 ⇒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359152"/>
            <a:ext cx="11240719" cy="804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2359152"/>
            <a:ext cx="57150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03504" y="2496312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2551176"/>
            <a:ext cx="749808" cy="274320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6816" y="2414016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求 |2 0 1; 1 −4 −1; −1 8 3| 的值。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8" y="2468880"/>
            <a:ext cx="20320" cy="585216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47688" y="2414016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按第 1 行展开：
2(−12+8) + 1(4−8) = −8 − 4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−12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3218688"/>
            <a:ext cx="11240719" cy="804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75488" y="3218688"/>
            <a:ext cx="57150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03504" y="3355848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" y="3410712"/>
            <a:ext cx="749808" cy="274320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性质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6" y="3273552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若 A 为 3 阶方阵且 |A| = 2，求 |−2A|、|A²|、|A*|。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4808" y="3328416"/>
            <a:ext cx="20320" cy="585216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47688" y="3273552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|−2A| = (−2)³·2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−16</a:t>
            </a: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
|A²| = |A|²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；|A*| = |A|²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078224"/>
            <a:ext cx="11240719" cy="804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4078224"/>
            <a:ext cx="57150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03504" y="421538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" y="4270248"/>
            <a:ext cx="749808" cy="274320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化三角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816" y="4133088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计算 D = |1 1 1 1; 1 2 1 1; 1 1 2 1; 1 1 1 2|。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4187952"/>
            <a:ext cx="20320" cy="585216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47688" y="4133088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各行减去第 1 行 ⇒ 上三角，
主对角线 1,1,1,1 ⇒ D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937760"/>
            <a:ext cx="11240719" cy="804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75488" y="4937760"/>
            <a:ext cx="57150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03504" y="5074920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8992" y="5129784"/>
            <a:ext cx="749808" cy="274320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展开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6816" y="4992624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设 4 阶行列式第 3 行元素为 1, 2, 0, −1，对应代数余子式为 2, −1, 3, 5，求该行列式。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64808" y="5047488"/>
            <a:ext cx="20320" cy="585216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47688" y="4992624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按第 3 行展开：
|A| = 1·2 + 2·(−1) + 0 + (−1)·5 = </a:t>
            </a:r>
            <a:r>
              <a:rPr sz="115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−5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5797296"/>
            <a:ext cx="11240719" cy="8046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75488" y="5797296"/>
            <a:ext cx="57150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603504" y="5934456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8992" y="5989320"/>
            <a:ext cx="749808" cy="274320"/>
          </a:xfrm>
          <a:prstGeom prst="roundRect">
            <a:avLst>
              <a:gd name="adj" fmla="val 22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Cramer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6816" y="5852160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用 Cramer 法则解 x + y + z = 6; 2x − y + z = 3; x + 2y − z = 2。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4808" y="5907024"/>
            <a:ext cx="20320" cy="585216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647688" y="5852160"/>
            <a:ext cx="5486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D = −7，D₁ = −7，D₂ = −14，D₃ = −21
⇒ x = 1, y = 2, z =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06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" y="118872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HOMEWORK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042415"/>
            <a:ext cx="11240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对应教材第二章习题 2.1–2.3 与第四章习题 4.1 的 Cramer 部分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72768"/>
            <a:ext cx="3703320" cy="4434840"/>
          </a:xfrm>
          <a:prstGeom prst="roundRect">
            <a:avLst>
              <a:gd name="adj" fmla="val 4500"/>
            </a:avLst>
          </a:prstGeom>
          <a:solidFill>
            <a:srgbClr val="E4F1E4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57150" cy="4434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基础题（必做）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31136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习题 2.1 第 1、2、5 题：对角线法则、逆序数、行列式项的符号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163824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习题 2.2 第 1 题：用性质计算 4 阶行列式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096512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习题 2.3 第 1 题：用展开定理计算 4 阶行列式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029200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习题 4.1 第 1 题 (1)：用 Cramer 法则解三元方程组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572768"/>
            <a:ext cx="3703320" cy="4434840"/>
          </a:xfrm>
          <a:prstGeom prst="roundRect">
            <a:avLst>
              <a:gd name="adj" fmla="val 4500"/>
            </a:avLst>
          </a:prstGeom>
          <a:solidFill>
            <a:srgbClr val="FDEED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15968" y="1572768"/>
            <a:ext cx="57150" cy="4434840"/>
          </a:xfrm>
          <a:prstGeom prst="rect">
            <a:avLst/>
          </a:prstGeom>
          <a:solidFill>
            <a:srgbClr val="D9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98848" y="1700784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6B0B"/>
                </a:solidFill>
                <a:latin typeface="微软雅黑"/>
                <a:ea typeface="微软雅黑"/>
                <a:cs typeface="微软雅黑"/>
              </a:rPr>
              <a:t>提高题（选做 2 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231136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证明：奇数阶反称矩阵的行列式必为 0（习题 2.2 B 组第 3 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163824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计算 n 阶行列式 |x a … a; a x … a; …; a a … x|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4096512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计算 n 阶行列式 |a+b ab 0 …; 1 a+b ab …; …|（习题 2.3 B 组第 5 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5029200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用加边法计算 1+x, 1−x, 1+y, 1−y 型行列式（例 3.4 的推广）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1572768"/>
            <a:ext cx="3703320" cy="4434840"/>
          </a:xfrm>
          <a:prstGeom prst="roundRect">
            <a:avLst>
              <a:gd name="adj" fmla="val 4500"/>
            </a:avLst>
          </a:prstGeom>
          <a:solidFill>
            <a:srgbClr val="DCEA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56448" y="1572768"/>
            <a:ext cx="57150" cy="4434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39328" y="1700784"/>
            <a:ext cx="3447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编程题（计算机专业加做）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231136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实现 det_by_definition(A)：按 Leibniz 公式枚举全排列求行列式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163824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实现 det_by_elimination(A)：高斯消元化上三角，返回 (−1)^s · ∏ 主元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4096512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对比 n = 2,3,…,9 的运行时间，画 log-log 图并与 n! 曲线对照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5029200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微软雅黑"/>
                <a:ea typeface="微软雅黑"/>
                <a:cs typeface="微软雅黑"/>
              </a:rPr>
              <a:t>· 实现 inversions(p)，用归并排序把复杂度降到 O(n log 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6144768"/>
            <a:ext cx="11240719" cy="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6144768"/>
            <a:ext cx="571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" y="6144768"/>
            <a:ext cx="10966399" cy="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43891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782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5564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1129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5020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2803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6694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0585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2259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6150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041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3932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5606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9497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411712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38912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877824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1755648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3511296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3950208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4828032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5705856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17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148840" y="3730752"/>
            <a:ext cx="1700784" cy="566928"/>
          </a:xfrm>
          <a:custGeom>
            <a:avLst/>
            <a:gdLst/>
            <a:ahLst/>
            <a:cxnLst/>
            <a:rect l="l" t="t" r="r" b="b"/>
            <a:pathLst>
              <a:path w="1700784" h="566928">
                <a:moveTo>
                  <a:pt x="0" y="566928"/>
                </a:moveTo>
                <a:lnTo>
                  <a:pt x="1133856" y="566928"/>
                </a:lnTo>
                <a:lnTo>
                  <a:pt x="1700784" y="0"/>
                </a:lnTo>
                <a:lnTo>
                  <a:pt x="566928" y="0"/>
                </a:lnTo>
                <a:close/>
              </a:path>
            </a:pathLst>
          </a:custGeom>
          <a:solidFill>
            <a:srgbClr val="1B4572"/>
          </a:solidFill>
          <a:ln w="20320">
            <a:solidFill>
              <a:srgbClr val="5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148840" y="4297680"/>
            <a:ext cx="1133856" cy="0"/>
          </a:xfrm>
          <a:prstGeom prst="line">
            <a:avLst/>
          </a:prstGeom>
          <a:ln w="30480">
            <a:solidFill>
              <a:srgbClr val="F2A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148840" y="3730752"/>
            <a:ext cx="566928" cy="566928"/>
          </a:xfrm>
          <a:prstGeom prst="line">
            <a:avLst/>
          </a:prstGeom>
          <a:ln w="30480">
            <a:solidFill>
              <a:srgbClr val="6ED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2648" y="1691640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F2A64B"/>
                </a:solidFill>
                <a:latin typeface="微软雅黑"/>
                <a:ea typeface="微软雅黑"/>
                <a:cs typeface="微软雅黑"/>
              </a:rPr>
              <a:t>下一讲：消元法与线性方程组的一般解法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FC2EC"/>
                </a:solidFill>
                <a:latin typeface="微软雅黑"/>
                <a:ea typeface="微软雅黑"/>
                <a:cs typeface="微软雅黑"/>
              </a:rPr>
              <a:t>本讲要点回顾：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排列 → 逆序数 → 行列式定义 → 几何直观 → 性质 → 展开定理 → Cramer 法则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5E2EF"/>
                </a:solidFill>
                <a:latin typeface="微软雅黑"/>
                <a:ea typeface="微软雅黑"/>
                <a:cs typeface="微软雅黑"/>
              </a:rPr>
              <a:t>核心判据：|A| ≠ 0 ⇔ 可逆 ⇔ 唯一解 ⇔ 列向量线性无关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587044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C93AB"/>
                </a:solidFill>
                <a:latin typeface="微软雅黑"/>
                <a:ea typeface="微软雅黑"/>
                <a:cs typeface="微软雅黑"/>
              </a:rPr>
              <a:t>配套教材：《大学数学——线性代数（第四版）》第二章、第四章 §1.1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8585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DD3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